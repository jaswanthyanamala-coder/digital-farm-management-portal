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9" r:id="rId3"/>
    <p:sldId id="270" r:id="rId4"/>
    <p:sldId id="283" r:id="rId5"/>
    <p:sldId id="284" r:id="rId6"/>
    <p:sldId id="298" r:id="rId7"/>
    <p:sldId id="297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68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>
        <p:scale>
          <a:sx n="80" d="100"/>
          <a:sy n="80" d="100"/>
        </p:scale>
        <p:origin x="754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78557-85A5-4B7B-99EB-EAB867AEA6A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10268-2FE6-47BB-9C00-D1747E6BB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8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A351-370B-1A52-995E-A68DF4E0B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F6C54-0592-F3D0-B35F-B2F1F8FB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9DA33-8DFC-4D0A-48DE-EAA21331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214B3-A079-DE7D-3FDB-5631E629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2B61D-A14E-4CCB-625A-A16F42FD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7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CE0-2C16-7D52-F3D9-4AF3AB3A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A99E-BF1E-41EB-96C8-1F5F4F757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35D9-0469-C558-BCE8-F50E3C4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A5F38-41F6-6E1E-8290-38121A77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05FE8-2FF8-8E6C-77CF-94DDD81E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7DA0-E6A2-9507-6BEA-1FBE047D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2D9D9-055D-18B8-C1A7-35E2042FB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F64D3-8F41-51D4-9FC8-E1663FEB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E046-9146-D674-DB68-45C4A20C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3881-242C-D7A0-1936-E92F0621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9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F5DE-D401-2A4E-8D39-4C47498A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91E5-9B07-E2D3-6835-C9E22582F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AA99A-294C-2EE2-698E-2DA1E0F1A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5FDDE-52EE-56DF-1385-A294828F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F516F-0234-FE8B-4C3D-792068AB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A2B3-07F5-D5C6-2F2E-7BB644B5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94AE-0D5D-192D-6480-6E6D1255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ED34E-E245-767F-F637-7DAA988A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76D84-0926-275A-6800-EEE7226CF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12C87-7F34-F284-B360-7DBD1A452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54F38-728F-1739-559B-236E375F5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E89DB-7AE1-F482-69F4-754CD99C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3AB4B-6676-F1F3-F41E-FFEFEE15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0D500-512A-76C3-A070-D527B70A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BA67-377E-811E-6707-E06B414A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793BC-7608-7DB2-A921-F82967B9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CDF3A-9134-AE95-0673-4AACCCD6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88074-ADB3-251B-D0D2-2C02DACA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530BB-8EF1-FD20-B171-12466BE6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44B2A-65C7-AAE2-80AE-9C663B7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D232A-3E8A-5860-B01B-F62F6A3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C3C-7F76-8F74-26CD-E33B6787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5CF9-0439-7B23-BFA7-9C88F360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5CB76-EBFB-B7E3-0E84-9E9A624BD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2F9C1-37C3-A34E-399F-88C256B5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99EB7-6F00-3B4B-7251-A43BB5ED6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8277-3F81-3100-B2B2-81AC6064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1287-7DC9-6316-8589-F05A6598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E88F1-E4C3-EDCB-6F4F-52ABDF6EE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F4BCC-7FD7-D1DB-1005-74641ABB1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C1921-3D81-EF2E-5B68-37EDD13A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12AD8-3197-373E-49E8-6A266059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A2385-2387-1324-A67B-ED7397EA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ED3E-CBEA-33DA-51E5-35132CDA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FB2BB-2F03-E8FB-0F06-93EB8F2C1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0D6C-568F-24EB-6784-292F52B8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1042-519D-FFA8-8A66-53B45115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A650-332D-431A-4457-F240695E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3CBAB-E78E-A599-A9A9-9AF969E90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41CB-446E-9B3E-FD47-5358380DD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460A-7AB2-BE80-E848-E3941C5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3A5C-C5E5-9A34-809A-9D298195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2D23-4F37-5067-DA68-E730DB69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6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E8FD6-2DC1-288C-9DE5-FFB17490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077BC-FF57-6574-C5EA-D44EEEF3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B9BF5-673C-5FF6-6D57-EB1E3EC6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77F8-9E92-42FD-812E-EC8EB2B3C06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0D73-7321-BE03-6F57-118FDA377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C0C4-8256-689A-A9A0-39737EAE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1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17365D"/>
              </a:buClr>
              <a:buSzPts val="2800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Development of a Digital Farm Management Portal for implementing Biosecurity measures in Pig and Poultry Farms</a:t>
            </a:r>
            <a:endParaRPr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>
              <a:spcBef>
                <a:spcPts val="0"/>
              </a:spcBef>
              <a:buClr>
                <a:srgbClr val="17365D"/>
              </a:buClr>
              <a:buSzPts val="2000"/>
            </a:pP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CSE_100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353818" y="223529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Poonam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70702981"/>
              </p:ext>
            </p:extLst>
          </p:nvPr>
        </p:nvGraphicFramePr>
        <p:xfrm>
          <a:off x="553347" y="2721840"/>
          <a:ext cx="5418675" cy="36577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 University Project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10"/>
              </a:spcBef>
              <a:buClr>
                <a:srgbClr val="17365D"/>
              </a:buClr>
              <a:buSzPct val="1000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Muthuraju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579AB13A-C568-AFA9-4BEB-B070BAEC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45" y="2673081"/>
            <a:ext cx="5346963" cy="2194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152400" y="160338"/>
            <a:ext cx="113284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17365D"/>
              </a:buClr>
              <a:buSzPts val="2800"/>
            </a:pPr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SIH25006 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250824" y="752476"/>
            <a:ext cx="11769725" cy="586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There is an urgent need for a user-friendly, digital platform that empowers farmers to Implement monitor, and sustain robust biosecurity practices on their farms.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Customizable risk assessment tools based on local epidemiological conditions.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Interactive training modules and best practice guidelines tailored for pig and poultry production systems.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Compliance tracking features aligned with regulatory frameworks to help farmers work toward disease-free compartment recognition.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Real-time alerts and monitoring dashboards for disease outbreaks and biosecurity breaches.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Multilingual and mobile-first design to ensure accessibility in remote and rural areas.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295275" y="274638"/>
            <a:ext cx="1118552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28625" y="895350"/>
            <a:ext cx="10895157" cy="568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Abstract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Literature Survey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Objectives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Existing Methods and Drawbacks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Proposed Method &amp; Feasibility Study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Hardware and 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Timeline (Gantt Chart)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References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B95F4-9A8C-51D4-03AE-895B4AE3F393}"/>
              </a:ext>
            </a:extLst>
          </p:cNvPr>
          <p:cNvSpPr txBox="1"/>
          <p:nvPr/>
        </p:nvSpPr>
        <p:spPr>
          <a:xfrm>
            <a:off x="167148" y="147484"/>
            <a:ext cx="11788878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Abstract :</a:t>
            </a:r>
          </a:p>
          <a:p>
            <a:endParaRPr lang="en-US" b="1" dirty="0"/>
          </a:p>
          <a:p>
            <a:r>
              <a:rPr lang="en-US" sz="2400" dirty="0"/>
              <a:t>Biosecurity is essential in pig and poultry farming to prevent disease outbreaks and ensure healthy livestock production.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Currently, many farms rely on manual record-keeping systems, which are inefficient and prone to errors.</a:t>
            </a:r>
          </a:p>
          <a:p>
            <a:endParaRPr lang="en-US" sz="2400" dirty="0"/>
          </a:p>
          <a:p>
            <a:r>
              <a:rPr lang="en-US" sz="2400" dirty="0"/>
              <a:t>The objective of this project is to develop a centralized digital portal that integrates animal health records, vaccination schedules, visitor tracking, sanitation monitoring, and feed inventory management.</a:t>
            </a:r>
          </a:p>
          <a:p>
            <a:endParaRPr lang="en-US" sz="2400" dirty="0"/>
          </a:p>
          <a:p>
            <a:r>
              <a:rPr lang="en-US" sz="2400" dirty="0"/>
              <a:t>The system supports automated reminders, digital reports, and real-time monitoring to improve farm safety and efficiency.</a:t>
            </a:r>
          </a:p>
          <a:p>
            <a:endParaRPr lang="en-US" sz="2400" dirty="0"/>
          </a:p>
          <a:p>
            <a:r>
              <a:rPr lang="en-US" sz="2400" dirty="0"/>
              <a:t>The solution bridges the gap between traditional farming practices and modern digital farm management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37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8BB63-B0F6-6085-0114-078C2B18D3E2}"/>
              </a:ext>
            </a:extLst>
          </p:cNvPr>
          <p:cNvSpPr txBox="1"/>
          <p:nvPr/>
        </p:nvSpPr>
        <p:spPr>
          <a:xfrm>
            <a:off x="81280" y="0"/>
            <a:ext cx="12012397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Literature Survey (Overview):</a:t>
            </a:r>
          </a:p>
          <a:p>
            <a:endParaRPr lang="en-US" sz="1400" b="1" dirty="0"/>
          </a:p>
          <a:p>
            <a:r>
              <a:rPr lang="en-US" sz="2400" b="1" dirty="0"/>
              <a:t>Databases searched:</a:t>
            </a:r>
            <a:r>
              <a:rPr lang="en-US" sz="2400" dirty="0"/>
              <a:t> IEEE Xplore, Scopus, Google Scholar, Web of Science</a:t>
            </a:r>
          </a:p>
          <a:p>
            <a:endParaRPr lang="en-US" sz="1000" dirty="0"/>
          </a:p>
          <a:p>
            <a:r>
              <a:rPr lang="en-US" sz="2400" b="1" dirty="0"/>
              <a:t>Keywords:</a:t>
            </a:r>
            <a:r>
              <a:rPr lang="en-US" sz="2400" dirty="0"/>
              <a:t> biosecurity in livestock farms, digital farm management, poultry health monitoring, pig disease prevention, livestock management systems</a:t>
            </a:r>
          </a:p>
          <a:p>
            <a:r>
              <a:rPr lang="en-US" sz="2400" dirty="0"/>
              <a:t>Reviewed 25+ papers, shortlisted 10 relevant works from 2010–2023.</a:t>
            </a:r>
          </a:p>
          <a:p>
            <a:endParaRPr lang="en-US" sz="1000" dirty="0"/>
          </a:p>
          <a:p>
            <a:r>
              <a:rPr lang="en-US" sz="2400" b="1" dirty="0"/>
              <a:t>Key Themes:</a:t>
            </a:r>
          </a:p>
          <a:p>
            <a:r>
              <a:rPr lang="en-US" sz="2400" dirty="0"/>
              <a:t>Livestock management information systems</a:t>
            </a:r>
          </a:p>
          <a:p>
            <a:r>
              <a:rPr lang="en-US" sz="2400" dirty="0"/>
              <a:t>Disease prevention frameworks in poultry and pig farms</a:t>
            </a:r>
          </a:p>
          <a:p>
            <a:r>
              <a:rPr lang="en-US" sz="2400" dirty="0"/>
              <a:t>Vaccination management systems</a:t>
            </a:r>
          </a:p>
          <a:p>
            <a:r>
              <a:rPr lang="en-US" sz="2400" dirty="0"/>
              <a:t>Biosecurity compliance monitoring</a:t>
            </a:r>
          </a:p>
          <a:p>
            <a:endParaRPr lang="en-US" sz="1000" dirty="0"/>
          </a:p>
          <a:p>
            <a:r>
              <a:rPr lang="en-US" sz="2400" b="1" dirty="0"/>
              <a:t>Observation:</a:t>
            </a:r>
          </a:p>
          <a:p>
            <a:r>
              <a:rPr lang="en-US" sz="2400" dirty="0"/>
              <a:t>Most systems focus on general livestock management ,but do not provide a complete biosecurity-focused integrated portal.</a:t>
            </a:r>
          </a:p>
          <a:p>
            <a:endParaRPr lang="en-US" sz="1000" dirty="0"/>
          </a:p>
          <a:p>
            <a:r>
              <a:rPr lang="en-US" sz="2400" b="1" dirty="0"/>
              <a:t>Gap Identified:</a:t>
            </a:r>
          </a:p>
          <a:p>
            <a:r>
              <a:rPr lang="en-US" sz="2400" dirty="0"/>
              <a:t>Lack of a centralized, scalable, and user-friendly digital system specifically designed for implementing biosecurity measures in pig and poultry farms.</a:t>
            </a:r>
          </a:p>
        </p:txBody>
      </p:sp>
    </p:spTree>
    <p:extLst>
      <p:ext uri="{BB962C8B-B14F-4D97-AF65-F5344CB8AC3E}">
        <p14:creationId xmlns:p14="http://schemas.microsoft.com/office/powerpoint/2010/main" val="255360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9BF11E0-E199-9E27-1A44-5A0BA0DA2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57193"/>
              </p:ext>
            </p:extLst>
          </p:nvPr>
        </p:nvGraphicFramePr>
        <p:xfrm>
          <a:off x="650240" y="690880"/>
          <a:ext cx="10800080" cy="6057422"/>
        </p:xfrm>
        <a:graphic>
          <a:graphicData uri="http://schemas.openxmlformats.org/drawingml/2006/table">
            <a:tbl>
              <a:tblPr/>
              <a:tblGrid>
                <a:gridCol w="772160">
                  <a:extLst>
                    <a:ext uri="{9D8B030D-6E8A-4147-A177-3AD203B41FA5}">
                      <a16:colId xmlns:a16="http://schemas.microsoft.com/office/drawing/2014/main" val="4153297188"/>
                    </a:ext>
                  </a:extLst>
                </a:gridCol>
                <a:gridCol w="2356434">
                  <a:extLst>
                    <a:ext uri="{9D8B030D-6E8A-4147-A177-3AD203B41FA5}">
                      <a16:colId xmlns:a16="http://schemas.microsoft.com/office/drawing/2014/main" val="1635397059"/>
                    </a:ext>
                  </a:extLst>
                </a:gridCol>
                <a:gridCol w="1992872">
                  <a:extLst>
                    <a:ext uri="{9D8B030D-6E8A-4147-A177-3AD203B41FA5}">
                      <a16:colId xmlns:a16="http://schemas.microsoft.com/office/drawing/2014/main" val="3627625476"/>
                    </a:ext>
                  </a:extLst>
                </a:gridCol>
                <a:gridCol w="1692870">
                  <a:extLst>
                    <a:ext uri="{9D8B030D-6E8A-4147-A177-3AD203B41FA5}">
                      <a16:colId xmlns:a16="http://schemas.microsoft.com/office/drawing/2014/main" val="1414325200"/>
                    </a:ext>
                  </a:extLst>
                </a:gridCol>
                <a:gridCol w="2067872">
                  <a:extLst>
                    <a:ext uri="{9D8B030D-6E8A-4147-A177-3AD203B41FA5}">
                      <a16:colId xmlns:a16="http://schemas.microsoft.com/office/drawing/2014/main" val="2667806794"/>
                    </a:ext>
                  </a:extLst>
                </a:gridCol>
                <a:gridCol w="1917872">
                  <a:extLst>
                    <a:ext uri="{9D8B030D-6E8A-4147-A177-3AD203B41FA5}">
                      <a16:colId xmlns:a16="http://schemas.microsoft.com/office/drawing/2014/main" val="373916661"/>
                    </a:ext>
                  </a:extLst>
                </a:gridCol>
              </a:tblGrid>
              <a:tr h="193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Sl. No.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Paper (Year)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Problem Studied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Approach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Findings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Gap Identified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886212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1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IEEE (2020) – Smart Livestock Monitoring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Animal health monitoring in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IoT sensors for temperature &amp; movement tracking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Real-time health tracking improves early disease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integrated biosecurity management system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053960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2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Elsevier (2021) – Poultry Disease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Early detection of poultry diseases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Machine Learning classification models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Improved prediction accuracy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vaccination or farm management module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01254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3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MDPI (2022) – Biosecurity Risk Assessment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Disease outbreak risk in pig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Risk analysis framework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Reduced disease spread with preventive measures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Manual tracking, no digital portal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222131"/>
                  </a:ext>
                </a:extLst>
              </a:tr>
              <a:tr h="4599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4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IEEE Access (2019) – Smart Farm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Automation in livestock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IoT + Cloud computing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Increased productivity and monitoring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High implementation cost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991112"/>
                  </a:ext>
                </a:extLst>
              </a:tr>
              <a:tr h="4599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5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FAO Guidelines (2018) – Farm Biosecurity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Biosecurity standards for livestock farms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Preventive protocols &amp; guidelines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Clear hygiene &amp; control measures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No digital implementation support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393171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6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IEEE IoT Journal (2020) – Sensor-Based Livestock Monitoring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Real-time livestock tracking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Wearable sensors + Cloud dashboards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Improved monitoring efficiency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Focused only on tracking, not full management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18564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7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Springer (2017) – Farm Management Information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Digital farm record management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Database-driven farm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Improved documentation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No biosecurity enforcement features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017313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8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IEEE (2021) – Disease Surveillance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Disease outbreak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Data analytics &amp; anomaly detection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Early outbreak alerts possible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Limited to health data only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56124"/>
                  </a:ext>
                </a:extLst>
              </a:tr>
              <a:tr h="4599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9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Elsevier (2020) – Precision Poultry Farming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Poultry productivity improvement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Data-driven decision systems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Increased egg/meat yield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visitor or sanitation tracking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303780"/>
                  </a:ext>
                </a:extLst>
              </a:tr>
              <a:tr h="5979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10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WHO (2022) – Zoonotic Disease Prevention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Preventing animal-to-human disease spread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Hygiene &amp; vaccination frameworks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/>
                        <a:t>Strong prevention strategies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/>
                        <a:t>No integrated farm-level monitoring system</a:t>
                      </a:r>
                    </a:p>
                  </a:txBody>
                  <a:tcPr marL="33216" marR="33216" marT="16608" marB="166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452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A7F5BC7-5C18-4458-36C0-4097594F7A81}"/>
              </a:ext>
            </a:extLst>
          </p:cNvPr>
          <p:cNvSpPr txBox="1"/>
          <p:nvPr/>
        </p:nvSpPr>
        <p:spPr>
          <a:xfrm>
            <a:off x="172720" y="124938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Summary Table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240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20630-F9B9-EB5D-FE64-95337ACA9107}"/>
              </a:ext>
            </a:extLst>
          </p:cNvPr>
          <p:cNvSpPr txBox="1"/>
          <p:nvPr/>
        </p:nvSpPr>
        <p:spPr>
          <a:xfrm>
            <a:off x="201561" y="109077"/>
            <a:ext cx="1178887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Objectives :</a:t>
            </a:r>
          </a:p>
          <a:p>
            <a:endParaRPr lang="en-US" sz="1400" b="1" dirty="0"/>
          </a:p>
          <a:p>
            <a:r>
              <a:rPr lang="en-US" sz="2400" b="1" dirty="0"/>
              <a:t>Data Integration :</a:t>
            </a:r>
          </a:p>
          <a:p>
            <a:r>
              <a:rPr lang="en-US" sz="2400" dirty="0"/>
              <a:t>Collect and unify farm data including health records, vaccination schedules, and visitor logs.</a:t>
            </a:r>
          </a:p>
          <a:p>
            <a:endParaRPr lang="en-US" sz="1000" dirty="0"/>
          </a:p>
          <a:p>
            <a:r>
              <a:rPr lang="en-US" sz="2400" b="1" dirty="0"/>
              <a:t>Biosecurity Monitoring :</a:t>
            </a:r>
          </a:p>
          <a:p>
            <a:r>
              <a:rPr lang="en-US" sz="2400" dirty="0"/>
              <a:t>Track sanitation measures and farm entry restrictions.</a:t>
            </a:r>
          </a:p>
          <a:p>
            <a:endParaRPr lang="en-US" sz="1000" dirty="0"/>
          </a:p>
          <a:p>
            <a:r>
              <a:rPr lang="en-US" sz="2400" b="1" dirty="0"/>
              <a:t>Automation :</a:t>
            </a:r>
          </a:p>
          <a:p>
            <a:r>
              <a:rPr lang="en-US" sz="2400" dirty="0"/>
              <a:t>Enable automatic vaccination reminders and alert notifications.</a:t>
            </a:r>
          </a:p>
          <a:p>
            <a:endParaRPr lang="en-US" sz="1000" dirty="0"/>
          </a:p>
          <a:p>
            <a:r>
              <a:rPr lang="en-US" sz="2400" b="1" dirty="0"/>
              <a:t>Health Management :</a:t>
            </a:r>
          </a:p>
          <a:p>
            <a:r>
              <a:rPr lang="en-US" sz="2400" dirty="0"/>
              <a:t>Maintain animal-wise health records and mortality reports.</a:t>
            </a:r>
          </a:p>
          <a:p>
            <a:endParaRPr lang="en-US" sz="1000" dirty="0"/>
          </a:p>
          <a:p>
            <a:r>
              <a:rPr lang="en-US" sz="2400" b="1" dirty="0"/>
              <a:t>Reporting :</a:t>
            </a:r>
          </a:p>
          <a:p>
            <a:r>
              <a:rPr lang="en-US" sz="2400" dirty="0"/>
              <a:t>Generate PDF/Excel reports for farm owners and regulatory authorities.</a:t>
            </a:r>
          </a:p>
          <a:p>
            <a:endParaRPr lang="en-US" sz="1000" dirty="0"/>
          </a:p>
          <a:p>
            <a:r>
              <a:rPr lang="en-US" sz="2400" b="1" dirty="0"/>
              <a:t>Accessibility :</a:t>
            </a:r>
          </a:p>
          <a:p>
            <a:r>
              <a:rPr lang="en-US" sz="2400" dirty="0"/>
              <a:t>Provide role-based access (Admin, Farm Manager, Worker).</a:t>
            </a:r>
          </a:p>
          <a:p>
            <a:endParaRPr lang="en-US" sz="1000" dirty="0"/>
          </a:p>
          <a:p>
            <a:r>
              <a:rPr lang="en-US" sz="2400" b="1" dirty="0"/>
              <a:t>Scalability :</a:t>
            </a:r>
          </a:p>
          <a:p>
            <a:r>
              <a:rPr lang="en-US" sz="2400" dirty="0"/>
              <a:t>Design modular architecture to support multiple farms and future IoT integration.</a:t>
            </a:r>
          </a:p>
        </p:txBody>
      </p:sp>
    </p:spTree>
    <p:extLst>
      <p:ext uri="{BB962C8B-B14F-4D97-AF65-F5344CB8AC3E}">
        <p14:creationId xmlns:p14="http://schemas.microsoft.com/office/powerpoint/2010/main" val="267089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35008-DFCD-5041-104B-C8F4F48F721D}"/>
              </a:ext>
            </a:extLst>
          </p:cNvPr>
          <p:cNvSpPr txBox="1"/>
          <p:nvPr/>
        </p:nvSpPr>
        <p:spPr>
          <a:xfrm>
            <a:off x="78658" y="78658"/>
            <a:ext cx="1203468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Existing Methods &amp; Drawbacks :</a:t>
            </a:r>
          </a:p>
          <a:p>
            <a:endParaRPr lang="en-US" b="1" dirty="0"/>
          </a:p>
          <a:p>
            <a:pPr marL="457200" indent="-457200">
              <a:buAutoNum type="arabicPeriod"/>
            </a:pPr>
            <a:r>
              <a:rPr lang="en-US" sz="2400" b="1" dirty="0"/>
              <a:t>Manual Record Keeping System :</a:t>
            </a:r>
          </a:p>
          <a:p>
            <a:endParaRPr lang="en-US" sz="2400" b="1" dirty="0"/>
          </a:p>
          <a:p>
            <a:r>
              <a:rPr lang="en-US" sz="2400" b="1" dirty="0"/>
              <a:t>Description:</a:t>
            </a:r>
            <a:br>
              <a:rPr lang="en-US" sz="2400" dirty="0"/>
            </a:br>
            <a:r>
              <a:rPr lang="en-US" sz="2400" dirty="0"/>
              <a:t>Most pig and poultry farms maintain records in physical registers. Health status, vaccination schedules, mortality data, visitor entries, and feed consumption are written manually.</a:t>
            </a:r>
          </a:p>
          <a:p>
            <a:endParaRPr lang="en-US" sz="1000" dirty="0"/>
          </a:p>
          <a:p>
            <a:r>
              <a:rPr lang="en-US" sz="2400" b="1" dirty="0"/>
              <a:t>Strengths:</a:t>
            </a:r>
            <a:endParaRPr lang="en-US" sz="2400" dirty="0"/>
          </a:p>
          <a:p>
            <a:r>
              <a:rPr lang="en-US" sz="2400" dirty="0"/>
              <a:t>Very low cost</a:t>
            </a:r>
          </a:p>
          <a:p>
            <a:r>
              <a:rPr lang="en-US" sz="2400" dirty="0"/>
              <a:t>Easy to implement</a:t>
            </a:r>
          </a:p>
          <a:p>
            <a:r>
              <a:rPr lang="en-US" sz="2400" dirty="0"/>
              <a:t>No technical knowledge required</a:t>
            </a:r>
          </a:p>
          <a:p>
            <a:endParaRPr lang="en-US" sz="1000" dirty="0"/>
          </a:p>
          <a:p>
            <a:r>
              <a:rPr lang="en-US" sz="2400" b="1" dirty="0"/>
              <a:t>Drawbacks:</a:t>
            </a:r>
            <a:endParaRPr lang="en-US" sz="2400" dirty="0"/>
          </a:p>
          <a:p>
            <a:r>
              <a:rPr lang="en-US" sz="2400" dirty="0"/>
              <a:t>High risk of data loss or damage</a:t>
            </a:r>
          </a:p>
          <a:p>
            <a:r>
              <a:rPr lang="en-US" sz="2400" dirty="0"/>
              <a:t>Human errors in recording data</a:t>
            </a:r>
          </a:p>
          <a:p>
            <a:r>
              <a:rPr lang="en-US" sz="2400" dirty="0"/>
              <a:t>No automated reminders for vaccination</a:t>
            </a:r>
          </a:p>
          <a:p>
            <a:r>
              <a:rPr lang="en-US" sz="2400" dirty="0"/>
              <a:t>Difficult to track disease history</a:t>
            </a:r>
          </a:p>
          <a:p>
            <a:r>
              <a:rPr lang="en-US" sz="2400" dirty="0"/>
              <a:t>No data analytics or trend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6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93B6DF-9231-3EB0-D036-7BD751D753F0}"/>
              </a:ext>
            </a:extLst>
          </p:cNvPr>
          <p:cNvSpPr txBox="1"/>
          <p:nvPr/>
        </p:nvSpPr>
        <p:spPr>
          <a:xfrm>
            <a:off x="167149" y="275304"/>
            <a:ext cx="1202485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Excel-Based Farm Tracking :</a:t>
            </a:r>
          </a:p>
          <a:p>
            <a:endParaRPr lang="en-US" sz="2400" b="1" dirty="0"/>
          </a:p>
          <a:p>
            <a:r>
              <a:rPr lang="en-US" sz="2400" b="1" dirty="0"/>
              <a:t>Description:</a:t>
            </a:r>
            <a:br>
              <a:rPr lang="en-US" sz="2400" dirty="0"/>
            </a:br>
            <a:r>
              <a:rPr lang="en-US" sz="2400" dirty="0"/>
              <a:t>Some medium-scale farms use Excel sheets to maintain digital records of livestock, vaccination, and feed inventory.</a:t>
            </a:r>
          </a:p>
          <a:p>
            <a:endParaRPr lang="en-US" sz="1000" dirty="0"/>
          </a:p>
          <a:p>
            <a:r>
              <a:rPr lang="en-US" sz="2400" b="1" dirty="0"/>
              <a:t>Strengths:</a:t>
            </a:r>
            <a:endParaRPr lang="en-US" sz="2400" dirty="0"/>
          </a:p>
          <a:p>
            <a:r>
              <a:rPr lang="en-US" sz="2400" dirty="0"/>
              <a:t>Better than manual registers</a:t>
            </a:r>
          </a:p>
          <a:p>
            <a:r>
              <a:rPr lang="en-US" sz="2400" dirty="0"/>
              <a:t>Data can be stored digitally</a:t>
            </a:r>
          </a:p>
          <a:p>
            <a:r>
              <a:rPr lang="en-US" sz="2400" dirty="0"/>
              <a:t>Basic calculations possible</a:t>
            </a:r>
          </a:p>
          <a:p>
            <a:endParaRPr lang="en-US" sz="1000" dirty="0"/>
          </a:p>
          <a:p>
            <a:r>
              <a:rPr lang="en-US" sz="2400" b="1" dirty="0"/>
              <a:t>Drawbacks:</a:t>
            </a:r>
            <a:endParaRPr lang="en-US" sz="2400" dirty="0"/>
          </a:p>
          <a:p>
            <a:r>
              <a:rPr lang="en-US" sz="2400" dirty="0"/>
              <a:t>Not centralized (multiple sheets for different tasks)</a:t>
            </a:r>
          </a:p>
          <a:p>
            <a:r>
              <a:rPr lang="en-US" sz="2400" dirty="0"/>
              <a:t>No real-time alert system</a:t>
            </a:r>
          </a:p>
          <a:p>
            <a:r>
              <a:rPr lang="en-US" sz="2400" dirty="0"/>
              <a:t>No proper biosecurity monitoring</a:t>
            </a:r>
          </a:p>
          <a:p>
            <a:r>
              <a:rPr lang="en-US" sz="2400" dirty="0"/>
              <a:t>Limited scalability for large farms</a:t>
            </a:r>
          </a:p>
          <a:p>
            <a:r>
              <a:rPr lang="en-US" sz="2400" dirty="0"/>
              <a:t>Requires manual updates</a:t>
            </a:r>
          </a:p>
          <a:p>
            <a:r>
              <a:rPr lang="en-US" sz="2400" dirty="0"/>
              <a:t>No role-based access control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615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369CA-733A-B6B8-B7EF-2E9640A47E75}"/>
              </a:ext>
            </a:extLst>
          </p:cNvPr>
          <p:cNvSpPr txBox="1"/>
          <p:nvPr/>
        </p:nvSpPr>
        <p:spPr>
          <a:xfrm>
            <a:off x="152400" y="74971"/>
            <a:ext cx="11833123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Proposed Method :</a:t>
            </a:r>
          </a:p>
          <a:p>
            <a:endParaRPr lang="en-US" b="1" dirty="0"/>
          </a:p>
          <a:p>
            <a:r>
              <a:rPr lang="en-IN" sz="2400" b="1" dirty="0"/>
              <a:t>Data Collection:</a:t>
            </a:r>
          </a:p>
          <a:p>
            <a:r>
              <a:rPr lang="en-IN" sz="2400" dirty="0"/>
              <a:t>Farm data entered through secure login portal.</a:t>
            </a:r>
          </a:p>
          <a:p>
            <a:endParaRPr lang="en-IN" sz="1000" dirty="0"/>
          </a:p>
          <a:p>
            <a:r>
              <a:rPr lang="en-IN" sz="2400" b="1" dirty="0"/>
              <a:t>Data Storage:</a:t>
            </a:r>
          </a:p>
          <a:p>
            <a:r>
              <a:rPr lang="en-IN" sz="2400" dirty="0"/>
              <a:t>MySQL/PostgreSQL database for structured storage.</a:t>
            </a:r>
          </a:p>
          <a:p>
            <a:endParaRPr lang="en-IN" sz="1000" dirty="0"/>
          </a:p>
          <a:p>
            <a:r>
              <a:rPr lang="en-IN" sz="2400" b="1" dirty="0"/>
              <a:t>Processing:</a:t>
            </a:r>
          </a:p>
          <a:p>
            <a:r>
              <a:rPr lang="en-IN" sz="2400" dirty="0"/>
              <a:t>Backend logic using Java (Servlet/JSP) or Flask for business rules.</a:t>
            </a:r>
          </a:p>
          <a:p>
            <a:endParaRPr lang="en-IN" sz="1000" dirty="0"/>
          </a:p>
          <a:p>
            <a:r>
              <a:rPr lang="en-IN" sz="2400" b="1" dirty="0"/>
              <a:t>Visualization:</a:t>
            </a:r>
          </a:p>
          <a:p>
            <a:r>
              <a:rPr lang="en-IN" sz="2400" dirty="0"/>
              <a:t>React.js dashboard with charts and alerts.</a:t>
            </a:r>
          </a:p>
          <a:p>
            <a:endParaRPr lang="en-IN" sz="1000" dirty="0"/>
          </a:p>
          <a:p>
            <a:r>
              <a:rPr lang="en-IN" sz="2400" b="1" dirty="0"/>
              <a:t>Reporting:</a:t>
            </a:r>
          </a:p>
          <a:p>
            <a:r>
              <a:rPr lang="en-IN" sz="2400" dirty="0"/>
              <a:t>Export reports in PDF/Excel format.</a:t>
            </a:r>
          </a:p>
          <a:p>
            <a:endParaRPr lang="en-IN" sz="1000" dirty="0"/>
          </a:p>
          <a:p>
            <a:r>
              <a:rPr lang="en-IN" sz="2400" b="1" dirty="0"/>
              <a:t>Security:</a:t>
            </a:r>
          </a:p>
          <a:p>
            <a:r>
              <a:rPr lang="en-IN" sz="2400" dirty="0"/>
              <a:t>Role-based authentication and data encryption.</a:t>
            </a:r>
          </a:p>
          <a:p>
            <a:endParaRPr lang="en-IN" sz="1000" dirty="0"/>
          </a:p>
          <a:p>
            <a:r>
              <a:rPr lang="en-IN" sz="2400" b="1" dirty="0"/>
              <a:t>Scalability:</a:t>
            </a:r>
          </a:p>
          <a:p>
            <a:r>
              <a:rPr lang="en-US" sz="2400" dirty="0"/>
              <a:t>Easily scalable for future expansion.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5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4FC82-5798-B2FD-1701-03C58DDA7293}"/>
              </a:ext>
            </a:extLst>
          </p:cNvPr>
          <p:cNvSpPr txBox="1"/>
          <p:nvPr/>
        </p:nvSpPr>
        <p:spPr>
          <a:xfrm>
            <a:off x="114300" y="151179"/>
            <a:ext cx="10720849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Feasibility Study :</a:t>
            </a:r>
          </a:p>
          <a:p>
            <a:endParaRPr lang="en-US" b="1" dirty="0"/>
          </a:p>
          <a:p>
            <a:r>
              <a:rPr lang="en-US" sz="2400" b="1" dirty="0"/>
              <a:t>Technical Feasibility:</a:t>
            </a:r>
          </a:p>
          <a:p>
            <a:r>
              <a:rPr lang="en-US" sz="2400" dirty="0"/>
              <a:t>Uses proven technologies (React, Java, MySQL).</a:t>
            </a:r>
          </a:p>
          <a:p>
            <a:endParaRPr lang="en-US" sz="1000" dirty="0"/>
          </a:p>
          <a:p>
            <a:r>
              <a:rPr lang="en-US" sz="2400" b="1" dirty="0"/>
              <a:t>Operational Feasibility:</a:t>
            </a:r>
          </a:p>
          <a:p>
            <a:r>
              <a:rPr lang="en-US" sz="2400" dirty="0"/>
              <a:t>Simple user interface suitable for farm workers.</a:t>
            </a:r>
          </a:p>
          <a:p>
            <a:endParaRPr lang="en-US" sz="1000" dirty="0"/>
          </a:p>
          <a:p>
            <a:r>
              <a:rPr lang="en-US" sz="2400" b="1" dirty="0"/>
              <a:t>Economic Feasibility:</a:t>
            </a:r>
          </a:p>
          <a:p>
            <a:r>
              <a:rPr lang="en-US" sz="2400" dirty="0"/>
              <a:t>Open-source stack → low development and maintenance cost.</a:t>
            </a:r>
          </a:p>
          <a:p>
            <a:endParaRPr lang="en-US" sz="1000" dirty="0"/>
          </a:p>
          <a:p>
            <a:r>
              <a:rPr lang="en-US" sz="2400" b="1" dirty="0"/>
              <a:t>Resource Feasibility:</a:t>
            </a:r>
          </a:p>
          <a:p>
            <a:r>
              <a:rPr lang="en-US" sz="2400" dirty="0"/>
              <a:t>3-member team with division into frontend, backend, database, and documentation.</a:t>
            </a:r>
          </a:p>
          <a:p>
            <a:endParaRPr lang="en-US" sz="1000" dirty="0"/>
          </a:p>
          <a:p>
            <a:r>
              <a:rPr lang="en-US" sz="2400" b="1" dirty="0"/>
              <a:t>Scalability Feasibility:</a:t>
            </a:r>
          </a:p>
          <a:p>
            <a:r>
              <a:rPr lang="en-US" sz="2400" dirty="0"/>
              <a:t>Designed to support future growth, users, and features seamlessly.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66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2EAB92-1B08-26D3-F3BE-4E1F71696BFE}"/>
              </a:ext>
            </a:extLst>
          </p:cNvPr>
          <p:cNvSpPr txBox="1"/>
          <p:nvPr/>
        </p:nvSpPr>
        <p:spPr>
          <a:xfrm>
            <a:off x="107540" y="89654"/>
            <a:ext cx="630278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Architecture Diagram &amp; Explanation :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IN" sz="2400" b="1" dirty="0"/>
              <a:t>Flow:</a:t>
            </a:r>
            <a:br>
              <a:rPr lang="en-IN" sz="2400" dirty="0"/>
            </a:br>
            <a:r>
              <a:rPr lang="en-IN" sz="2400" dirty="0"/>
              <a:t>Data → Process → Store → Backend → Dashboard → Users</a:t>
            </a:r>
          </a:p>
          <a:p>
            <a:endParaRPr lang="en-IN" sz="1000" dirty="0"/>
          </a:p>
          <a:p>
            <a:r>
              <a:rPr lang="en-US" sz="2400" b="1" dirty="0"/>
              <a:t>Data Sources:</a:t>
            </a:r>
            <a:r>
              <a:rPr lang="en-US" sz="2400" dirty="0"/>
              <a:t> Collects farm information.</a:t>
            </a:r>
          </a:p>
          <a:p>
            <a:endParaRPr lang="en-US" sz="1000" dirty="0"/>
          </a:p>
          <a:p>
            <a:r>
              <a:rPr lang="en-US" sz="2400" b="1" dirty="0"/>
              <a:t>Processing:</a:t>
            </a:r>
            <a:r>
              <a:rPr lang="en-US" sz="2400" dirty="0"/>
              <a:t> Cleans and organizes data.</a:t>
            </a:r>
          </a:p>
          <a:p>
            <a:endParaRPr lang="en-US" sz="1000" dirty="0"/>
          </a:p>
          <a:p>
            <a:r>
              <a:rPr lang="en-US" sz="2400" b="1" dirty="0"/>
              <a:t>Storage:</a:t>
            </a:r>
            <a:r>
              <a:rPr lang="en-US" sz="2400" dirty="0"/>
              <a:t> Saves data in database.</a:t>
            </a:r>
          </a:p>
          <a:p>
            <a:endParaRPr lang="en-US" sz="1000" dirty="0"/>
          </a:p>
          <a:p>
            <a:r>
              <a:rPr lang="en-US" sz="2400" b="1" dirty="0"/>
              <a:t>Backend:</a:t>
            </a:r>
            <a:r>
              <a:rPr lang="en-US" sz="2400" dirty="0"/>
              <a:t> Handles logic and APIs.</a:t>
            </a:r>
            <a:endParaRPr lang="en-US" sz="1000" dirty="0"/>
          </a:p>
          <a:p>
            <a:endParaRPr lang="en-US" sz="1000" dirty="0"/>
          </a:p>
          <a:p>
            <a:r>
              <a:rPr lang="en-US" sz="2400" b="1" dirty="0"/>
              <a:t>Frontend:</a:t>
            </a:r>
            <a:r>
              <a:rPr lang="en-US" sz="2400" dirty="0"/>
              <a:t> Shows dashboard and reports.</a:t>
            </a:r>
          </a:p>
          <a:p>
            <a:endParaRPr lang="en-US" sz="1000" dirty="0"/>
          </a:p>
          <a:p>
            <a:r>
              <a:rPr lang="en-US" sz="2400" b="1" dirty="0"/>
              <a:t>Users:</a:t>
            </a:r>
            <a:r>
              <a:rPr lang="en-US" sz="2400" dirty="0"/>
              <a:t> Access and manage farm data.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A3649F-BDDB-C45B-8E84-7D0A9499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335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2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F9F70-AB60-5A79-7B7D-B2615B48A610}"/>
              </a:ext>
            </a:extLst>
          </p:cNvPr>
          <p:cNvSpPr txBox="1"/>
          <p:nvPr/>
        </p:nvSpPr>
        <p:spPr>
          <a:xfrm>
            <a:off x="107849" y="66675"/>
            <a:ext cx="109728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Modules :</a:t>
            </a:r>
          </a:p>
          <a:p>
            <a:endParaRPr lang="en-US" b="1" dirty="0"/>
          </a:p>
          <a:p>
            <a:r>
              <a:rPr lang="en-US" sz="2400" b="1" dirty="0"/>
              <a:t>User Management Module:</a:t>
            </a:r>
            <a:r>
              <a:rPr lang="en-US" sz="2400" dirty="0"/>
              <a:t> Manages user login, registration, and role-based access control.</a:t>
            </a:r>
          </a:p>
          <a:p>
            <a:endParaRPr lang="en-US" sz="1000" dirty="0"/>
          </a:p>
          <a:p>
            <a:r>
              <a:rPr lang="en-US" sz="2400" b="1" dirty="0"/>
              <a:t>Animal Health Management Module:</a:t>
            </a:r>
            <a:r>
              <a:rPr lang="en-US" sz="2400" dirty="0"/>
              <a:t> Stores and tracks animal health records, treatments, and mortality data.</a:t>
            </a:r>
          </a:p>
          <a:p>
            <a:endParaRPr lang="en-US" sz="1000" dirty="0"/>
          </a:p>
          <a:p>
            <a:r>
              <a:rPr lang="en-US" sz="2400" b="1" dirty="0"/>
              <a:t>Vaccination Management Module:</a:t>
            </a:r>
            <a:r>
              <a:rPr lang="en-US" sz="2400" dirty="0"/>
              <a:t> Schedules vaccinations and sends reminders to prevent diseases.</a:t>
            </a:r>
          </a:p>
          <a:p>
            <a:endParaRPr lang="en-US" sz="1000" dirty="0"/>
          </a:p>
          <a:p>
            <a:r>
              <a:rPr lang="en-US" sz="2400" b="1" dirty="0"/>
              <a:t>Biosecurity Monitoring Module:</a:t>
            </a:r>
            <a:r>
              <a:rPr lang="en-US" sz="2400" dirty="0"/>
              <a:t> Records visitor logs and sanitation activities to maintain farm safety.</a:t>
            </a:r>
          </a:p>
          <a:p>
            <a:endParaRPr lang="en-US" sz="1000" dirty="0"/>
          </a:p>
          <a:p>
            <a:r>
              <a:rPr lang="en-US" sz="2400" b="1" dirty="0"/>
              <a:t>Feed &amp; Inventory Management Module:</a:t>
            </a:r>
            <a:r>
              <a:rPr lang="en-US" sz="2400" dirty="0"/>
              <a:t> Tracks feed and medicine stock with low-stock alerts.</a:t>
            </a:r>
            <a:endParaRPr lang="en-US" sz="1000" dirty="0"/>
          </a:p>
          <a:p>
            <a:endParaRPr lang="en-US" sz="1000" dirty="0"/>
          </a:p>
          <a:p>
            <a:r>
              <a:rPr lang="en-US" sz="2400" b="1" dirty="0"/>
              <a:t>Reporting &amp; Analytics Module:</a:t>
            </a:r>
            <a:r>
              <a:rPr lang="en-US" sz="2400" dirty="0"/>
              <a:t> Generates reports and dashboards for better decision-making.</a:t>
            </a:r>
          </a:p>
          <a:p>
            <a:endParaRPr lang="en-US" sz="1000" dirty="0"/>
          </a:p>
          <a:p>
            <a:r>
              <a:rPr lang="en-US" sz="2400" b="1" dirty="0"/>
              <a:t>Security &amp; Backup Module:</a:t>
            </a:r>
            <a:r>
              <a:rPr lang="en-US" sz="2400" dirty="0"/>
              <a:t> Protects data through secure access and regular backups.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88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3A9A7A-8E3E-8E17-4C13-7B41DA1FD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25661"/>
              </p:ext>
            </p:extLst>
          </p:nvPr>
        </p:nvGraphicFramePr>
        <p:xfrm>
          <a:off x="117987" y="952500"/>
          <a:ext cx="11818375" cy="5957000"/>
        </p:xfrm>
        <a:graphic>
          <a:graphicData uri="http://schemas.openxmlformats.org/drawingml/2006/table">
            <a:tbl>
              <a:tblPr/>
              <a:tblGrid>
                <a:gridCol w="2363675">
                  <a:extLst>
                    <a:ext uri="{9D8B030D-6E8A-4147-A177-3AD203B41FA5}">
                      <a16:colId xmlns:a16="http://schemas.microsoft.com/office/drawing/2014/main" val="3143040621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893870545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790688941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835804869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2025142014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Why Chosen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Role in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0739"/>
                  </a:ext>
                </a:extLst>
              </a:tr>
              <a:tr h="486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React.js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Fast &amp; Modular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Dashboard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644339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Java (JSP/Servlet)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API &amp;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8537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Farm Data Repository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94295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Python (Pandas)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Trend &amp; Risk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478982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Apache Tomcat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Open-source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Web 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36704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2169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1E683D-AC96-BC6F-8A63-266702A9892F}"/>
              </a:ext>
            </a:extLst>
          </p:cNvPr>
          <p:cNvSpPr txBox="1"/>
          <p:nvPr/>
        </p:nvSpPr>
        <p:spPr>
          <a:xfrm>
            <a:off x="117987" y="157316"/>
            <a:ext cx="10097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Technology Stack(Hardware and Software Details) :</a:t>
            </a:r>
          </a:p>
        </p:txBody>
      </p:sp>
    </p:spTree>
    <p:extLst>
      <p:ext uri="{BB962C8B-B14F-4D97-AF65-F5344CB8AC3E}">
        <p14:creationId xmlns:p14="http://schemas.microsoft.com/office/powerpoint/2010/main" val="588679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146665-CC2F-A7CC-3107-721BD3A6EEE6}"/>
              </a:ext>
            </a:extLst>
          </p:cNvPr>
          <p:cNvSpPr txBox="1"/>
          <p:nvPr/>
        </p:nvSpPr>
        <p:spPr>
          <a:xfrm>
            <a:off x="1170038" y="373625"/>
            <a:ext cx="1006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US" sz="4400"/>
          </a:p>
        </p:txBody>
      </p:sp>
      <p:pic>
        <p:nvPicPr>
          <p:cNvPr id="3" name="table">
            <a:extLst>
              <a:ext uri="{FF2B5EF4-FFF2-40B4-BE49-F238E27FC236}">
                <a16:creationId xmlns:a16="http://schemas.microsoft.com/office/drawing/2014/main" id="{2223FD48-A97F-C9F5-F5F2-660E05D4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1544895"/>
            <a:ext cx="9065343" cy="376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4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0A616-C30B-FB60-E1C5-3B03E01D919B}"/>
              </a:ext>
            </a:extLst>
          </p:cNvPr>
          <p:cNvSpPr txBox="1"/>
          <p:nvPr/>
        </p:nvSpPr>
        <p:spPr>
          <a:xfrm>
            <a:off x="108155" y="98323"/>
            <a:ext cx="11946193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Academic References (IEEE/Scopus/Web of Science) :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T. </a:t>
            </a:r>
            <a:r>
              <a:rPr lang="en-US" sz="2200" dirty="0" err="1"/>
              <a:t>Köhne</a:t>
            </a:r>
            <a:r>
              <a:rPr lang="en-US" sz="2200" dirty="0"/>
              <a:t> et al., “Design and Evaluation of a Livestock Farm Management System,” </a:t>
            </a:r>
            <a:r>
              <a:rPr lang="en-US" sz="2200" i="1" dirty="0"/>
              <a:t>IEEE Access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L. Wang and X. Li, “Smart Livestock Monitoring Using IoT and Cloud Computing,” </a:t>
            </a:r>
            <a:r>
              <a:rPr lang="en-US" sz="2200" i="1" dirty="0"/>
              <a:t>Sensors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F. Zhang, M. Hasan, “Precision Poultry Farming: A Review,” </a:t>
            </a:r>
            <a:r>
              <a:rPr lang="en-US" sz="2200" i="1" dirty="0"/>
              <a:t>Computers and Electronics in Agriculture</a:t>
            </a:r>
            <a:r>
              <a:rPr lang="en-US" sz="2200" dirty="0"/>
              <a:t>, 2019.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J. Smith et al., “Biosecurity Strategies for Livestock Disease Prevention,” </a:t>
            </a:r>
            <a:r>
              <a:rPr lang="en-US" sz="2200" i="1" dirty="0"/>
              <a:t>Journal of Animal Science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FAO, “Biosecurity in Animal Production and Veterinary Public Health,” </a:t>
            </a:r>
            <a:r>
              <a:rPr lang="en-US" sz="2200" i="1" dirty="0"/>
              <a:t>FAO Animal Health Manual</a:t>
            </a:r>
            <a:r>
              <a:rPr lang="en-US" sz="2200" dirty="0"/>
              <a:t>, 2018.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T. Nguyen and H. Kim, “Automated Livestock Health Tracking System Using Wearable Sensors,” </a:t>
            </a:r>
            <a:r>
              <a:rPr lang="en-US" sz="2200" i="1" dirty="0"/>
              <a:t>IEEE Internet of Things Journal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R. Singh and S. Sharma, “A Farm ERP — Integrated Information System for Livestock Farms,” </a:t>
            </a:r>
            <a:r>
              <a:rPr lang="en-US" sz="2200" i="1" dirty="0"/>
              <a:t>International Journal of Agricultural Management</a:t>
            </a:r>
            <a:r>
              <a:rPr lang="en-US" sz="2200" dirty="0"/>
              <a:t>, 2019.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P. Kumar and A. Gupta, “Disease Detection in Poultry Farms Using Machine Learning,” </a:t>
            </a:r>
            <a:r>
              <a:rPr lang="en-US" sz="2200" i="1" dirty="0"/>
              <a:t>Elsevier Computing in Agriculture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H. Al-Amin et al., “Cloud-Based Farm Management Systems: Architecture and Case Study,” </a:t>
            </a:r>
            <a:r>
              <a:rPr lang="en-US" sz="2200" i="1" dirty="0"/>
              <a:t>Journal of Network and Computer Applications</a:t>
            </a:r>
            <a:r>
              <a:rPr lang="en-US" sz="2200" dirty="0"/>
              <a:t>, 2022.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B. Patel and R. Patel, “Livestock Vaccination Scheduling and Alert System,” </a:t>
            </a:r>
            <a:r>
              <a:rPr lang="en-US" sz="2200" i="1" dirty="0"/>
              <a:t>International Journal of Biological Engineering</a:t>
            </a:r>
            <a:r>
              <a:rPr lang="en-US" sz="2200" dirty="0"/>
              <a:t>, 2019.</a:t>
            </a:r>
          </a:p>
        </p:txBody>
      </p:sp>
    </p:spTree>
    <p:extLst>
      <p:ext uri="{BB962C8B-B14F-4D97-AF65-F5344CB8AC3E}">
        <p14:creationId xmlns:p14="http://schemas.microsoft.com/office/powerpoint/2010/main" val="435690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887DD-887A-5721-F23D-C4F546C77487}"/>
              </a:ext>
            </a:extLst>
          </p:cNvPr>
          <p:cNvSpPr txBox="1"/>
          <p:nvPr/>
        </p:nvSpPr>
        <p:spPr>
          <a:xfrm>
            <a:off x="108155" y="137652"/>
            <a:ext cx="1197569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S. Rao and P. Reddy, “Monitoring Farm Biosecurity Using Mobile Information Systems,” </a:t>
            </a:r>
            <a:r>
              <a:rPr lang="en-US" sz="2200" i="1" dirty="0"/>
              <a:t>Journal of Mobile Computing and Applications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M. R. Islam et al., “Database Design for Livestock Management Systems,” </a:t>
            </a:r>
            <a:r>
              <a:rPr lang="en-US" sz="2200" i="1" dirty="0"/>
              <a:t>ACM Transactions on Database Systems</a:t>
            </a:r>
            <a:r>
              <a:rPr lang="en-US" sz="2200" dirty="0"/>
              <a:t>, 2018.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L. D. Truong et al., “Farm Management Information Systems: Adoption and Challenges,” </a:t>
            </a:r>
            <a:r>
              <a:rPr lang="en-US" sz="2200" i="1" dirty="0"/>
              <a:t>Journal of Rural Studies</a:t>
            </a:r>
            <a:r>
              <a:rPr lang="en-US" sz="2200" dirty="0"/>
              <a:t>, 2019.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C. Zhao and Y. Shen, “Decision Support Systems for Livestock Disease Control,” </a:t>
            </a:r>
            <a:r>
              <a:rPr lang="en-US" sz="2200" i="1" dirty="0"/>
              <a:t>Expert Systems with Applications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P. Singh et al., “Evaluating Farm-Level Biosecurity Practices in Poultry Production,” </a:t>
            </a:r>
            <a:r>
              <a:rPr lang="en-US" sz="2200" i="1" dirty="0"/>
              <a:t>Preventive Veterinary Medicine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G. Johnson and T. Clark, “Architecture for Scalable Agricultural Data Systems,” </a:t>
            </a:r>
            <a:r>
              <a:rPr lang="en-US" sz="2200" i="1" dirty="0"/>
              <a:t>IEEE Transactions on Cloud Computing</a:t>
            </a:r>
            <a:r>
              <a:rPr lang="en-US" sz="2200" dirty="0"/>
              <a:t>, 2022.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K. Brown et al., “Impact of Digital Farm Tools in Smallholder Productivity,” </a:t>
            </a:r>
            <a:r>
              <a:rPr lang="en-US" sz="2200" i="1" dirty="0"/>
              <a:t>Agricultural Systems</a:t>
            </a:r>
            <a:r>
              <a:rPr lang="en-US" sz="2200" dirty="0"/>
              <a:t>, 2020.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J. Lee and D. Kim, “Web-Based Information Systems for Livestock Management,” </a:t>
            </a:r>
            <a:r>
              <a:rPr lang="en-US" sz="2200" i="1" dirty="0"/>
              <a:t>International Journal of Web Engineering</a:t>
            </a:r>
            <a:r>
              <a:rPr lang="en-US" sz="2200" dirty="0"/>
              <a:t>, 2018.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R. Dasgupta and S. Pal, “Review of Smart Farming and Animal Tracking,” </a:t>
            </a:r>
            <a:r>
              <a:rPr lang="en-US" sz="2200" i="1" dirty="0"/>
              <a:t>Computers in Agriculture and Food Research</a:t>
            </a:r>
            <a:r>
              <a:rPr lang="en-US" sz="2200" dirty="0"/>
              <a:t>, 2021.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2200" dirty="0"/>
              <a:t>WHO, “Guidelines for Zoonotic Disease Prevention in Animal-Human Interfaces,” </a:t>
            </a:r>
            <a:r>
              <a:rPr lang="en-US" sz="2200" i="1" dirty="0"/>
              <a:t>World Health Organization</a:t>
            </a:r>
            <a:r>
              <a:rPr lang="en-US" sz="2200" dirty="0"/>
              <a:t>, 2022.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33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1889</Words>
  <Application>Microsoft Office PowerPoint</Application>
  <PresentationFormat>Widescreen</PresentationFormat>
  <Paragraphs>322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Verdana</vt:lpstr>
      <vt:lpstr>Wingdings</vt:lpstr>
      <vt:lpstr>Office Theme</vt:lpstr>
      <vt:lpstr>Development of a Digital Farm Management Portal for implementing Biosecurity measures in Pig and Poultry Farms</vt:lpstr>
      <vt:lpstr>Problem Statement Number : SIH25006 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 Reddy</dc:creator>
  <cp:lastModifiedBy>Satya Narayana Purohith</cp:lastModifiedBy>
  <cp:revision>3</cp:revision>
  <dcterms:created xsi:type="dcterms:W3CDTF">2025-08-11T14:33:12Z</dcterms:created>
  <dcterms:modified xsi:type="dcterms:W3CDTF">2026-03-01T08:14:23Z</dcterms:modified>
</cp:coreProperties>
</file>