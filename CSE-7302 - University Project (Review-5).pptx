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7" r:id="rId2"/>
    <p:sldId id="269" r:id="rId3"/>
    <p:sldId id="270" r:id="rId4"/>
    <p:sldId id="283" r:id="rId5"/>
    <p:sldId id="284" r:id="rId6"/>
    <p:sldId id="298" r:id="rId7"/>
    <p:sldId id="297" r:id="rId8"/>
    <p:sldId id="287" r:id="rId9"/>
    <p:sldId id="288" r:id="rId10"/>
    <p:sldId id="289" r:id="rId11"/>
    <p:sldId id="290" r:id="rId12"/>
    <p:sldId id="291" r:id="rId13"/>
    <p:sldId id="292" r:id="rId14"/>
    <p:sldId id="293" r:id="rId15"/>
    <p:sldId id="294" r:id="rId16"/>
    <p:sldId id="295" r:id="rId17"/>
    <p:sldId id="296" r:id="rId18"/>
    <p:sldId id="301" r:id="rId19"/>
    <p:sldId id="300" r:id="rId20"/>
    <p:sldId id="268" r:id="rId21"/>
    <p:sldId id="266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5033" autoAdjust="0"/>
  </p:normalViewPr>
  <p:slideViewPr>
    <p:cSldViewPr snapToGrid="0">
      <p:cViewPr varScale="1">
        <p:scale>
          <a:sx n="78" d="100"/>
          <a:sy n="78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078557-85A5-4B7B-99EB-EAB867AEA6AA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710268-2FE6-47BB-9C00-D1747E6BB2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2869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40805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2911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2441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7165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4359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FA351-370B-1A52-995E-A68DF4E0B9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BF6C54-0592-F3D0-B35F-B2F1F8FB6E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39DA33-8DFC-4D0A-48DE-EAA21331A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877F8-9E92-42FD-812E-EC8EB2B3C062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1214B3-A079-DE7D-3FDB-5631E629DB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B2B61D-A14E-4CCB-625A-A16F42FD2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4C230-3AF1-4D92-8D0D-42B6DF2BA7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25753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EB4CE0-2C16-7D52-F3D9-4AF3AB3A7A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16A99E-BF1E-41EB-96C8-1F5F4F757D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C335D9-0469-C558-BCE8-F50E3C48F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877F8-9E92-42FD-812E-EC8EB2B3C062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AA5F38-41F6-6E1E-8290-38121A77E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E05FE8-2FF8-8E6C-77CF-94DDD81E8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4C230-3AF1-4D92-8D0D-42B6DF2BA7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7891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B7DA0-E6A2-9507-6BEA-1FBE047D4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62D9D9-055D-18B8-C1A7-35E2042FB7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3F64D3-8F41-51D4-9FC8-E1663FEB03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877F8-9E92-42FD-812E-EC8EB2B3C062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71E046-9146-D674-DB68-45C4A20CE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83881-242C-D7A0-1936-E92F06219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4C230-3AF1-4D92-8D0D-42B6DF2BA7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9907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D9F5DE-D401-2A4E-8D39-4C47498A69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0191E5-9B07-E2D3-6835-C9E22582FB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4AA99A-294C-2EE2-698E-2DA1E0F1AE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D5FDDE-52EE-56DF-1385-A294828FFE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877F8-9E92-42FD-812E-EC8EB2B3C062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AF516F-0234-FE8B-4C3D-792068AB4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07A2B3-07F5-D5C6-2F2E-7BB644B5F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4C230-3AF1-4D92-8D0D-42B6DF2BA7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3945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DE94AE-0D5D-192D-6480-6E6D12552F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3ED34E-E245-767F-F637-7DAA988A9E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076D84-0926-275A-6800-EEE7226CF1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612C87-7F34-F284-B360-7DBD1A452B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C54F38-728F-1739-559B-236E375F55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F8E89DB-7AE1-F482-69F4-754CD99C2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877F8-9E92-42FD-812E-EC8EB2B3C062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C13AB4B-6676-F1F3-F41E-FFEFEE1569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80D500-512A-76C3-A070-D527B70AD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4C230-3AF1-4D92-8D0D-42B6DF2BA7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97564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D4BA67-377E-811E-6707-E06B414AF1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A6793BC-7608-7DB2-A921-F82967B99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877F8-9E92-42FD-812E-EC8EB2B3C062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DCDF3A-9134-AE95-0673-4AACCCD60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988074-ADB3-251B-D0D2-2C02DACA4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4C230-3AF1-4D92-8D0D-42B6DF2BA7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281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77530BB-8EF1-FD20-B171-12466BE66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877F8-9E92-42FD-812E-EC8EB2B3C062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D44B2A-65C7-AAE2-80AE-9C663B7C31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2D232A-3E8A-5860-B01B-F62F6A38E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4C230-3AF1-4D92-8D0D-42B6DF2BA7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201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22C3C-7F76-8F74-26CD-E33B6787A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95CF9-0439-7B23-BFA7-9C88F360F5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5CB76-EBFB-B7E3-0E84-9E9A624BD2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82F9C1-37C3-A34E-399F-88C256B556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877F8-9E92-42FD-812E-EC8EB2B3C062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099EB7-6F00-3B4B-7251-A43BB5ED6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348277-3F81-3100-B2B2-81AC6064A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4C230-3AF1-4D92-8D0D-42B6DF2BA7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0739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11287-7DC9-6316-8589-F05A659862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AE88F1-E4C3-EDCB-6F4F-52ABDF6EE4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AF4BCC-7FD7-D1DB-1005-74641ABB12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BC1921-3D81-EF2E-5B68-37EDD13A02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877F8-9E92-42FD-812E-EC8EB2B3C062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712AD8-3197-373E-49E8-6A26605902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1A2385-2387-1324-A67B-ED7397EA1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4C230-3AF1-4D92-8D0D-42B6DF2BA7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9663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BED3E-CBEA-33DA-51E5-35132CDA6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CFB2BB-2F03-E8FB-0F06-93EB8F2C12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CE0D6C-568F-24EB-6784-292F52B8C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877F8-9E92-42FD-812E-EC8EB2B3C062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CA1042-519D-FFA8-8A66-53B451151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B3A650-332D-431A-4457-F240695E3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4C230-3AF1-4D92-8D0D-42B6DF2BA7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2152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3CBAB-E78E-A599-A9A9-9AF969E903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5741CB-446E-9B3E-FD47-5358380DD4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C5460A-7AB2-BE80-E848-E3941C5CE2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877F8-9E92-42FD-812E-EC8EB2B3C062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BE3A5C-C5E5-9A34-809A-9D2981958F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BB2D23-4F37-5067-DA68-E730DB69B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4C230-3AF1-4D92-8D0D-42B6DF2BA7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6685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E8E8FD6-2DC1-288C-9DE5-FFB17490FA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B077BC-FF57-6574-C5EA-D44EEEF3B9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3B9BF5-673C-5FF6-6D57-EB1E3EC68C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5877F8-9E92-42FD-812E-EC8EB2B3C062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120D73-7321-BE03-6F57-118FDA3777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54C0C4-8256-689A-A9A0-39737EAE0A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A4C230-3AF1-4D92-8D0D-42B6DF2BA7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73182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jaswanthyanamala-coder/Digital-Farm-Management-Portal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>
            <a:spLocks noGrp="1"/>
          </p:cNvSpPr>
          <p:nvPr>
            <p:ph type="ctrTitle"/>
          </p:nvPr>
        </p:nvSpPr>
        <p:spPr>
          <a:xfrm>
            <a:off x="790469" y="1069102"/>
            <a:ext cx="10363200" cy="962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spcBef>
                <a:spcPts val="0"/>
              </a:spcBef>
              <a:buClr>
                <a:srgbClr val="17365D"/>
              </a:buClr>
              <a:buSzPts val="2800"/>
            </a:pP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Development of a Digital Farm Management Portal for implementing Biosecurity measures in Pig and Poultry Farms</a:t>
            </a:r>
            <a:endParaRPr sz="2400" b="1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790468" y="2045352"/>
            <a:ext cx="4391131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 algn="l">
              <a:spcBef>
                <a:spcPts val="0"/>
              </a:spcBef>
              <a:buClr>
                <a:srgbClr val="17365D"/>
              </a:buClr>
              <a:buSzPts val="2000"/>
            </a:pPr>
            <a:r>
              <a:rPr lang="en-GB" sz="1800" b="1" dirty="0">
                <a:latin typeface="Cambria" panose="02040503050406030204" pitchFamily="18" charset="0"/>
                <a:ea typeface="Cambria" panose="02040503050406030204" pitchFamily="18" charset="0"/>
              </a:rPr>
              <a:t>Batch Number: CSE_100</a:t>
            </a:r>
          </a:p>
        </p:txBody>
      </p:sp>
      <p:sp>
        <p:nvSpPr>
          <p:cNvPr id="90" name="Google Shape;90;p13"/>
          <p:cNvSpPr txBox="1"/>
          <p:nvPr/>
        </p:nvSpPr>
        <p:spPr>
          <a:xfrm>
            <a:off x="6353818" y="2235290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  <a:endParaRPr lang="en-GB" dirty="0">
              <a:latin typeface="Cambria" panose="02040503050406030204" pitchFamily="18" charset="0"/>
              <a:ea typeface="Cambria" panose="02040503050406030204" pitchFamily="18" charset="0"/>
              <a:sym typeface="Verdana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US" sz="17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Mr. Venkatesan D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0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US" sz="17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Assistant Professor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0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US" sz="17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School of Computer Science and Engineering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0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US" sz="17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graphicFrame>
        <p:nvGraphicFramePr>
          <p:cNvPr id="89" name="Google Shape;89;p13"/>
          <p:cNvGraphicFramePr/>
          <p:nvPr>
            <p:extLst>
              <p:ext uri="{D42A27DB-BD31-4B8C-83A1-F6EECF244321}">
                <p14:modId xmlns:p14="http://schemas.microsoft.com/office/powerpoint/2010/main" val="1370702981"/>
              </p:ext>
            </p:extLst>
          </p:nvPr>
        </p:nvGraphicFramePr>
        <p:xfrm>
          <a:off x="553347" y="2721840"/>
          <a:ext cx="5418675" cy="36577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208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3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1" name="Google Shape;91;p13"/>
          <p:cNvSpPr txBox="1"/>
          <p:nvPr/>
        </p:nvSpPr>
        <p:spPr>
          <a:xfrm>
            <a:off x="2832225" y="136441"/>
            <a:ext cx="5498973" cy="729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ctr">
              <a:buClr>
                <a:srgbClr val="17365D"/>
              </a:buClr>
              <a:buSzPct val="100000"/>
            </a:pPr>
            <a:r>
              <a:rPr lang="en-GB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CSE7302- University Project</a:t>
            </a:r>
            <a:endParaRPr lang="en-GB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0" algn="ctr">
              <a:spcBef>
                <a:spcPts val="310"/>
              </a:spcBef>
              <a:buClr>
                <a:srgbClr val="17365D"/>
              </a:buClr>
              <a:buSzPct val="100000"/>
            </a:pPr>
            <a:r>
              <a:rPr lang="en-GB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Review-5</a:t>
            </a:r>
          </a:p>
        </p:txBody>
      </p:sp>
      <p:sp>
        <p:nvSpPr>
          <p:cNvPr id="8" name="Google Shape;91;p13"/>
          <p:cNvSpPr txBox="1"/>
          <p:nvPr/>
        </p:nvSpPr>
        <p:spPr>
          <a:xfrm>
            <a:off x="294968" y="4533900"/>
            <a:ext cx="11954947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buClr>
                <a:srgbClr val="17365D"/>
              </a:buClr>
              <a:buSzPct val="100000"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</a:t>
            </a: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: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CSE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HOD: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Blessed Prince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Project Coordinator: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Mr. Muthuraju V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Project Coordinators: 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Sampath A K  </a:t>
            </a:r>
            <a:endParaRPr sz="18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pic>
        <p:nvPicPr>
          <p:cNvPr id="2" name="table">
            <a:extLst>
              <a:ext uri="{FF2B5EF4-FFF2-40B4-BE49-F238E27FC236}">
                <a16:creationId xmlns:a16="http://schemas.microsoft.com/office/drawing/2014/main" id="{579AB13A-C568-AFA9-4BEB-B070BAECD4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745" y="2673081"/>
            <a:ext cx="5346963" cy="21946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152400" y="160338"/>
            <a:ext cx="113284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spcBef>
                <a:spcPts val="0"/>
              </a:spcBef>
              <a:buClr>
                <a:srgbClr val="17365D"/>
              </a:buClr>
              <a:buSzPts val="2800"/>
            </a:pPr>
            <a:r>
              <a:rPr lang="en-GB" sz="3200" dirty="0">
                <a:latin typeface="Cambria" panose="02040503050406030204" pitchFamily="18" charset="0"/>
                <a:ea typeface="Cambria" panose="02040503050406030204" pitchFamily="18" charset="0"/>
              </a:rPr>
              <a:t>Problem Statement Number : SIH25006 </a:t>
            </a:r>
            <a:endParaRPr sz="3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250824" y="752476"/>
            <a:ext cx="11769725" cy="5867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190500" algn="just">
              <a:spcBef>
                <a:spcPts val="0"/>
              </a:spcBef>
              <a:buNone/>
            </a:pP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Organization: </a:t>
            </a:r>
          </a:p>
          <a:p>
            <a:pPr marL="342900" lvl="0" indent="-190500" algn="just">
              <a:spcBef>
                <a:spcPts val="0"/>
              </a:spcBef>
              <a:buNone/>
            </a:pPr>
            <a:endParaRPr lang="en-US" sz="24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>
              <a:spcBef>
                <a:spcPts val="0"/>
              </a:spcBef>
              <a:buNone/>
            </a:pP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Category (Hardware / Software / Both) : Software</a:t>
            </a:r>
          </a:p>
          <a:p>
            <a:pPr marL="342900" lvl="0" indent="-190500" algn="just">
              <a:spcBef>
                <a:spcPts val="0"/>
              </a:spcBef>
              <a:buNone/>
            </a:pPr>
            <a:endParaRPr lang="en-US" sz="24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>
              <a:spcBef>
                <a:spcPts val="0"/>
              </a:spcBef>
              <a:buNone/>
            </a:pP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Problem Description: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</a:pP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There is an urgent need for a user-friendly, digital platform that empowers farmers to Implement monitor, and sustain robust biosecurity practices on their farms. 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</a:pP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Customizable risk assessment tools based on local epidemiological conditions.</a:t>
            </a:r>
          </a:p>
          <a:p>
            <a:pPr marL="438150" indent="-285750" algn="just">
              <a:lnSpc>
                <a:spcPct val="200000"/>
              </a:lnSpc>
              <a:spcBef>
                <a:spcPts val="0"/>
              </a:spcBef>
            </a:pP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 Interactive training modules and best practice guidelines tailored for pig and poultry production systems.</a:t>
            </a:r>
          </a:p>
          <a:p>
            <a:pPr marL="438150" indent="-285750" algn="just">
              <a:lnSpc>
                <a:spcPct val="200000"/>
              </a:lnSpc>
              <a:spcBef>
                <a:spcPts val="0"/>
              </a:spcBef>
            </a:pP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 Compliance tracking features aligned with regulatory frameworks to help farmers work toward disease-free compartment recognition.</a:t>
            </a:r>
          </a:p>
          <a:p>
            <a:pPr marL="438150" indent="-285750" algn="just">
              <a:lnSpc>
                <a:spcPct val="200000"/>
              </a:lnSpc>
              <a:spcBef>
                <a:spcPts val="0"/>
              </a:spcBef>
            </a:pP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 Real-time alerts and monitoring dashboards for disease outbreaks and biosecurity breaches.</a:t>
            </a:r>
          </a:p>
          <a:p>
            <a:pPr marL="438150" indent="-285750" algn="just">
              <a:lnSpc>
                <a:spcPct val="200000"/>
              </a:lnSpc>
              <a:spcBef>
                <a:spcPts val="0"/>
              </a:spcBef>
            </a:pP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 Multilingual and mobile-first design to ensure accessibility in remote and rural areas.</a:t>
            </a:r>
          </a:p>
          <a:p>
            <a:pPr marL="342900" lvl="0" indent="-190500" algn="just">
              <a:spcBef>
                <a:spcPts val="0"/>
              </a:spcBef>
              <a:buNone/>
            </a:pP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34518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295275" y="274638"/>
            <a:ext cx="11185525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sz="3200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sz="3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428625" y="895350"/>
            <a:ext cx="10895157" cy="5688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95300" indent="-342900" algn="just">
              <a:lnSpc>
                <a:spcPct val="200000"/>
              </a:lnSpc>
              <a:spcBef>
                <a:spcPts val="0"/>
              </a:spcBef>
            </a:pPr>
            <a:r>
              <a:rPr lang="en-US" sz="2000" dirty="0"/>
              <a:t>Abstract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</a:pPr>
            <a:r>
              <a:rPr lang="en-US" sz="2000" dirty="0"/>
              <a:t>Literature Survey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</a:pPr>
            <a:r>
              <a:rPr lang="en-US" sz="2000" dirty="0"/>
              <a:t>Objectives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</a:pPr>
            <a:r>
              <a:rPr lang="en-US" sz="2000" dirty="0"/>
              <a:t>Existing Methods and Drawbacks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</a:pPr>
            <a:r>
              <a:rPr lang="en-US" sz="2000" dirty="0"/>
              <a:t>Proposed Method &amp; Feasibility Study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</a:pPr>
            <a:r>
              <a:rPr lang="en-US" sz="2000" dirty="0"/>
              <a:t>Modules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</a:pPr>
            <a:r>
              <a:rPr lang="en-US" sz="2000" dirty="0"/>
              <a:t>Hardware and Software Details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</a:pPr>
            <a:r>
              <a:rPr lang="en-US" sz="2000" dirty="0"/>
              <a:t>Timeline (Gantt Chart)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</a:pPr>
            <a:r>
              <a:rPr lang="en-US" sz="2000" dirty="0"/>
              <a:t>References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46B95F4-9A8C-51D4-03AE-895B4AE3F393}"/>
              </a:ext>
            </a:extLst>
          </p:cNvPr>
          <p:cNvSpPr txBox="1"/>
          <p:nvPr/>
        </p:nvSpPr>
        <p:spPr>
          <a:xfrm>
            <a:off x="167148" y="147484"/>
            <a:ext cx="11788878" cy="66479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/>
              <a:t>Abstract :</a:t>
            </a:r>
          </a:p>
          <a:p>
            <a:endParaRPr lang="en-US" b="1" dirty="0"/>
          </a:p>
          <a:p>
            <a:r>
              <a:rPr lang="en-US" sz="2400" dirty="0"/>
              <a:t>Biosecurity is essential in pig and poultry farming to prevent disease outbreaks and ensure healthy livestock production.</a:t>
            </a:r>
          </a:p>
          <a:p>
            <a:r>
              <a:rPr lang="en-US" sz="2400" dirty="0"/>
              <a:t> </a:t>
            </a:r>
          </a:p>
          <a:p>
            <a:r>
              <a:rPr lang="en-US" sz="2400" dirty="0"/>
              <a:t>Currently, many farms rely on manual record-keeping systems, which are inefficient and prone to errors.</a:t>
            </a:r>
          </a:p>
          <a:p>
            <a:endParaRPr lang="en-US" sz="2400" dirty="0"/>
          </a:p>
          <a:p>
            <a:r>
              <a:rPr lang="en-US" sz="2400" dirty="0"/>
              <a:t>The objective of this project is to develop a centralized digital portal that integrates animal health records, vaccination schedules, visitor tracking, sanitation monitoring, and feed inventory management.</a:t>
            </a:r>
          </a:p>
          <a:p>
            <a:endParaRPr lang="en-US" sz="2400" dirty="0"/>
          </a:p>
          <a:p>
            <a:r>
              <a:rPr lang="en-US" sz="2400" dirty="0"/>
              <a:t>The system supports automated reminders, digital reports, and real-time monitoring to improve farm safety and efficiency.</a:t>
            </a:r>
          </a:p>
          <a:p>
            <a:endParaRPr lang="en-US" sz="2400" dirty="0"/>
          </a:p>
          <a:p>
            <a:r>
              <a:rPr lang="en-US" sz="2400" dirty="0"/>
              <a:t>The solution bridges the gap between traditional farming practices and modern digital farm management systems.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43735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868BB63-B0F6-6085-0114-078C2B18D3E2}"/>
              </a:ext>
            </a:extLst>
          </p:cNvPr>
          <p:cNvSpPr txBox="1"/>
          <p:nvPr/>
        </p:nvSpPr>
        <p:spPr>
          <a:xfrm>
            <a:off x="81280" y="0"/>
            <a:ext cx="12012397" cy="69249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/>
              <a:t>Literature Survey (Overview):</a:t>
            </a:r>
          </a:p>
          <a:p>
            <a:endParaRPr lang="en-US" sz="1400" b="1" dirty="0"/>
          </a:p>
          <a:p>
            <a:r>
              <a:rPr lang="en-US" sz="2400" b="1" dirty="0"/>
              <a:t>Databases searched:</a:t>
            </a:r>
            <a:r>
              <a:rPr lang="en-US" sz="2400" dirty="0"/>
              <a:t> IEEE Xplore, Scopus, Google Scholar, Web of Science</a:t>
            </a:r>
          </a:p>
          <a:p>
            <a:endParaRPr lang="en-US" sz="1000" dirty="0"/>
          </a:p>
          <a:p>
            <a:r>
              <a:rPr lang="en-US" sz="2400" b="1" dirty="0"/>
              <a:t>Keywords:</a:t>
            </a:r>
            <a:r>
              <a:rPr lang="en-US" sz="2400" dirty="0"/>
              <a:t> biosecurity in livestock farms, digital farm management, poultry health monitoring, pig disease prevention, livestock management systems</a:t>
            </a:r>
          </a:p>
          <a:p>
            <a:r>
              <a:rPr lang="en-US" sz="2400" dirty="0"/>
              <a:t>Reviewed 25+ papers, shortlisted 10 relevant works from 2010–2023.</a:t>
            </a:r>
          </a:p>
          <a:p>
            <a:endParaRPr lang="en-US" sz="1000" dirty="0"/>
          </a:p>
          <a:p>
            <a:r>
              <a:rPr lang="en-US" sz="2400" b="1" dirty="0"/>
              <a:t>Key Themes:</a:t>
            </a:r>
          </a:p>
          <a:p>
            <a:r>
              <a:rPr lang="en-US" sz="2400" dirty="0"/>
              <a:t>Livestock management information systems</a:t>
            </a:r>
          </a:p>
          <a:p>
            <a:r>
              <a:rPr lang="en-US" sz="2400" dirty="0"/>
              <a:t>Disease prevention frameworks in poultry and pig farms</a:t>
            </a:r>
          </a:p>
          <a:p>
            <a:r>
              <a:rPr lang="en-US" sz="2400" dirty="0"/>
              <a:t>Vaccination management systems</a:t>
            </a:r>
          </a:p>
          <a:p>
            <a:r>
              <a:rPr lang="en-US" sz="2400" dirty="0"/>
              <a:t>Biosecurity compliance monitoring</a:t>
            </a:r>
          </a:p>
          <a:p>
            <a:endParaRPr lang="en-US" sz="1000" dirty="0"/>
          </a:p>
          <a:p>
            <a:r>
              <a:rPr lang="en-US" sz="2400" b="1" dirty="0"/>
              <a:t>Observation:</a:t>
            </a:r>
          </a:p>
          <a:p>
            <a:r>
              <a:rPr lang="en-US" sz="2400" dirty="0"/>
              <a:t>Most systems focus on general livestock management ,but do not provide a complete biosecurity-focused integrated portal.</a:t>
            </a:r>
          </a:p>
          <a:p>
            <a:endParaRPr lang="en-US" sz="1000" dirty="0"/>
          </a:p>
          <a:p>
            <a:r>
              <a:rPr lang="en-US" sz="2400" b="1" dirty="0"/>
              <a:t>Gap Identified:</a:t>
            </a:r>
          </a:p>
          <a:p>
            <a:r>
              <a:rPr lang="en-US" sz="2400" dirty="0"/>
              <a:t>Lack of a centralized, scalable, and user-friendly digital system specifically designed for implementing biosecurity measures in pig and poultry farms.</a:t>
            </a:r>
          </a:p>
        </p:txBody>
      </p:sp>
    </p:spTree>
    <p:extLst>
      <p:ext uri="{BB962C8B-B14F-4D97-AF65-F5344CB8AC3E}">
        <p14:creationId xmlns:p14="http://schemas.microsoft.com/office/powerpoint/2010/main" val="25536073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D9BF11E0-E199-9E27-1A44-5A0BA0DA27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857193"/>
              </p:ext>
            </p:extLst>
          </p:nvPr>
        </p:nvGraphicFramePr>
        <p:xfrm>
          <a:off x="650240" y="690880"/>
          <a:ext cx="10800080" cy="6057422"/>
        </p:xfrm>
        <a:graphic>
          <a:graphicData uri="http://schemas.openxmlformats.org/drawingml/2006/table">
            <a:tbl>
              <a:tblPr/>
              <a:tblGrid>
                <a:gridCol w="772160">
                  <a:extLst>
                    <a:ext uri="{9D8B030D-6E8A-4147-A177-3AD203B41FA5}">
                      <a16:colId xmlns:a16="http://schemas.microsoft.com/office/drawing/2014/main" val="4153297188"/>
                    </a:ext>
                  </a:extLst>
                </a:gridCol>
                <a:gridCol w="2356434">
                  <a:extLst>
                    <a:ext uri="{9D8B030D-6E8A-4147-A177-3AD203B41FA5}">
                      <a16:colId xmlns:a16="http://schemas.microsoft.com/office/drawing/2014/main" val="1635397059"/>
                    </a:ext>
                  </a:extLst>
                </a:gridCol>
                <a:gridCol w="1992872">
                  <a:extLst>
                    <a:ext uri="{9D8B030D-6E8A-4147-A177-3AD203B41FA5}">
                      <a16:colId xmlns:a16="http://schemas.microsoft.com/office/drawing/2014/main" val="3627625476"/>
                    </a:ext>
                  </a:extLst>
                </a:gridCol>
                <a:gridCol w="1692870">
                  <a:extLst>
                    <a:ext uri="{9D8B030D-6E8A-4147-A177-3AD203B41FA5}">
                      <a16:colId xmlns:a16="http://schemas.microsoft.com/office/drawing/2014/main" val="1414325200"/>
                    </a:ext>
                  </a:extLst>
                </a:gridCol>
                <a:gridCol w="2067872">
                  <a:extLst>
                    <a:ext uri="{9D8B030D-6E8A-4147-A177-3AD203B41FA5}">
                      <a16:colId xmlns:a16="http://schemas.microsoft.com/office/drawing/2014/main" val="2667806794"/>
                    </a:ext>
                  </a:extLst>
                </a:gridCol>
                <a:gridCol w="1917872">
                  <a:extLst>
                    <a:ext uri="{9D8B030D-6E8A-4147-A177-3AD203B41FA5}">
                      <a16:colId xmlns:a16="http://schemas.microsoft.com/office/drawing/2014/main" val="373916661"/>
                    </a:ext>
                  </a:extLst>
                </a:gridCol>
              </a:tblGrid>
              <a:tr h="19371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/>
                        <a:t>Sl. No.</a:t>
                      </a:r>
                    </a:p>
                  </a:txBody>
                  <a:tcPr marL="33216" marR="33216" marT="16608" marB="166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/>
                        <a:t>Paper (Year)</a:t>
                      </a:r>
                    </a:p>
                  </a:txBody>
                  <a:tcPr marL="33216" marR="33216" marT="16608" marB="166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/>
                        <a:t>Problem Studied</a:t>
                      </a:r>
                    </a:p>
                  </a:txBody>
                  <a:tcPr marL="33216" marR="33216" marT="16608" marB="166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/>
                        <a:t>Approach</a:t>
                      </a:r>
                    </a:p>
                  </a:txBody>
                  <a:tcPr marL="33216" marR="33216" marT="16608" marB="166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/>
                        <a:t>Findings</a:t>
                      </a:r>
                    </a:p>
                  </a:txBody>
                  <a:tcPr marL="33216" marR="33216" marT="16608" marB="166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/>
                        <a:t>Gap Identified</a:t>
                      </a:r>
                    </a:p>
                  </a:txBody>
                  <a:tcPr marL="33216" marR="33216" marT="16608" marB="166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8886212"/>
                  </a:ext>
                </a:extLst>
              </a:tr>
              <a:tr h="73591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/>
                        <a:t>1</a:t>
                      </a:r>
                    </a:p>
                  </a:txBody>
                  <a:tcPr marL="33216" marR="33216" marT="16608" marB="166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dirty="0"/>
                        <a:t>IEEE (2020) – Smart Livestock Monitoring</a:t>
                      </a:r>
                    </a:p>
                  </a:txBody>
                  <a:tcPr marL="33216" marR="33216" marT="16608" marB="166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/>
                        <a:t>Animal health monitoring in farms</a:t>
                      </a:r>
                    </a:p>
                  </a:txBody>
                  <a:tcPr marL="33216" marR="33216" marT="16608" marB="166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/>
                        <a:t>IoT sensors for temperature &amp; movement tracking</a:t>
                      </a:r>
                    </a:p>
                  </a:txBody>
                  <a:tcPr marL="33216" marR="33216" marT="16608" marB="166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/>
                        <a:t>Real-time health tracking improves early disease detection</a:t>
                      </a:r>
                    </a:p>
                  </a:txBody>
                  <a:tcPr marL="33216" marR="33216" marT="16608" marB="166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/>
                        <a:t>No integrated biosecurity management system</a:t>
                      </a:r>
                    </a:p>
                  </a:txBody>
                  <a:tcPr marL="33216" marR="33216" marT="16608" marB="166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1053960"/>
                  </a:ext>
                </a:extLst>
              </a:tr>
              <a:tr h="59793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/>
                        <a:t>2</a:t>
                      </a:r>
                    </a:p>
                  </a:txBody>
                  <a:tcPr marL="33216" marR="33216" marT="16608" marB="166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/>
                        <a:t>Elsevier (2021) – Poultry Disease Detection</a:t>
                      </a:r>
                    </a:p>
                  </a:txBody>
                  <a:tcPr marL="33216" marR="33216" marT="16608" marB="166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/>
                        <a:t>Early detection of poultry diseases</a:t>
                      </a:r>
                    </a:p>
                  </a:txBody>
                  <a:tcPr marL="33216" marR="33216" marT="16608" marB="166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dirty="0"/>
                        <a:t>Machine Learning classification models</a:t>
                      </a:r>
                    </a:p>
                  </a:txBody>
                  <a:tcPr marL="33216" marR="33216" marT="16608" marB="166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dirty="0"/>
                        <a:t>Improved prediction accuracy</a:t>
                      </a:r>
                    </a:p>
                  </a:txBody>
                  <a:tcPr marL="33216" marR="33216" marT="16608" marB="166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/>
                        <a:t>No vaccination or farm management module</a:t>
                      </a:r>
                    </a:p>
                  </a:txBody>
                  <a:tcPr marL="33216" marR="33216" marT="16608" marB="166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2501254"/>
                  </a:ext>
                </a:extLst>
              </a:tr>
              <a:tr h="59793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/>
                        <a:t>3</a:t>
                      </a:r>
                    </a:p>
                  </a:txBody>
                  <a:tcPr marL="33216" marR="33216" marT="16608" marB="166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/>
                        <a:t>MDPI (2022) – Biosecurity Risk Assessment</a:t>
                      </a:r>
                    </a:p>
                  </a:txBody>
                  <a:tcPr marL="33216" marR="33216" marT="16608" marB="166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/>
                        <a:t>Disease outbreak risk in pig farms</a:t>
                      </a:r>
                    </a:p>
                  </a:txBody>
                  <a:tcPr marL="33216" marR="33216" marT="16608" marB="166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dirty="0"/>
                        <a:t>Risk analysis framework</a:t>
                      </a:r>
                    </a:p>
                  </a:txBody>
                  <a:tcPr marL="33216" marR="33216" marT="16608" marB="166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/>
                        <a:t>Reduced disease spread with preventive measures</a:t>
                      </a:r>
                    </a:p>
                  </a:txBody>
                  <a:tcPr marL="33216" marR="33216" marT="16608" marB="166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dirty="0"/>
                        <a:t>Manual tracking, no digital portal</a:t>
                      </a:r>
                    </a:p>
                  </a:txBody>
                  <a:tcPr marL="33216" marR="33216" marT="16608" marB="166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3222131"/>
                  </a:ext>
                </a:extLst>
              </a:tr>
              <a:tr h="45994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/>
                        <a:t>4</a:t>
                      </a:r>
                    </a:p>
                  </a:txBody>
                  <a:tcPr marL="33216" marR="33216" marT="16608" marB="166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/>
                        <a:t>IEEE Access (2019) – Smart Farm Systems</a:t>
                      </a:r>
                    </a:p>
                  </a:txBody>
                  <a:tcPr marL="33216" marR="33216" marT="16608" marB="166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dirty="0"/>
                        <a:t>Automation in livestock farms</a:t>
                      </a:r>
                    </a:p>
                  </a:txBody>
                  <a:tcPr marL="33216" marR="33216" marT="16608" marB="166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dirty="0"/>
                        <a:t>IoT + Cloud computing</a:t>
                      </a:r>
                    </a:p>
                  </a:txBody>
                  <a:tcPr marL="33216" marR="33216" marT="16608" marB="166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dirty="0"/>
                        <a:t>Increased productivity and monitoring</a:t>
                      </a:r>
                    </a:p>
                  </a:txBody>
                  <a:tcPr marL="33216" marR="33216" marT="16608" marB="166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dirty="0"/>
                        <a:t>High implementation cost</a:t>
                      </a:r>
                    </a:p>
                  </a:txBody>
                  <a:tcPr marL="33216" marR="33216" marT="16608" marB="166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3991112"/>
                  </a:ext>
                </a:extLst>
              </a:tr>
              <a:tr h="45994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/>
                        <a:t>5</a:t>
                      </a:r>
                    </a:p>
                  </a:txBody>
                  <a:tcPr marL="33216" marR="33216" marT="16608" marB="166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/>
                        <a:t>FAO Guidelines (2018) – Farm Biosecurity</a:t>
                      </a:r>
                    </a:p>
                  </a:txBody>
                  <a:tcPr marL="33216" marR="33216" marT="16608" marB="166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/>
                        <a:t>Biosecurity standards for livestock farms</a:t>
                      </a:r>
                    </a:p>
                  </a:txBody>
                  <a:tcPr marL="33216" marR="33216" marT="16608" marB="166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dirty="0"/>
                        <a:t>Preventive protocols &amp; guidelines</a:t>
                      </a:r>
                    </a:p>
                  </a:txBody>
                  <a:tcPr marL="33216" marR="33216" marT="16608" marB="166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dirty="0"/>
                        <a:t>Clear hygiene &amp; control measures</a:t>
                      </a:r>
                    </a:p>
                  </a:txBody>
                  <a:tcPr marL="33216" marR="33216" marT="16608" marB="166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dirty="0"/>
                        <a:t>No digital implementation support</a:t>
                      </a:r>
                    </a:p>
                  </a:txBody>
                  <a:tcPr marL="33216" marR="33216" marT="16608" marB="166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5393171"/>
                  </a:ext>
                </a:extLst>
              </a:tr>
              <a:tr h="59793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/>
                        <a:t>6</a:t>
                      </a:r>
                    </a:p>
                  </a:txBody>
                  <a:tcPr marL="33216" marR="33216" marT="16608" marB="166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/>
                        <a:t>IEEE IoT Journal (2020) – Sensor-Based Livestock Monitoring</a:t>
                      </a:r>
                    </a:p>
                  </a:txBody>
                  <a:tcPr marL="33216" marR="33216" marT="16608" marB="166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dirty="0"/>
                        <a:t>Real-time livestock tracking</a:t>
                      </a:r>
                    </a:p>
                  </a:txBody>
                  <a:tcPr marL="33216" marR="33216" marT="16608" marB="166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dirty="0"/>
                        <a:t>Wearable sensors + Cloud dashboards</a:t>
                      </a:r>
                    </a:p>
                  </a:txBody>
                  <a:tcPr marL="33216" marR="33216" marT="16608" marB="166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dirty="0"/>
                        <a:t>Improved monitoring efficiency</a:t>
                      </a:r>
                    </a:p>
                  </a:txBody>
                  <a:tcPr marL="33216" marR="33216" marT="16608" marB="166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/>
                        <a:t>Focused only on tracking, not full management</a:t>
                      </a:r>
                    </a:p>
                  </a:txBody>
                  <a:tcPr marL="33216" marR="33216" marT="16608" marB="166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518564"/>
                  </a:ext>
                </a:extLst>
              </a:tr>
              <a:tr h="73591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/>
                        <a:t>7</a:t>
                      </a:r>
                    </a:p>
                  </a:txBody>
                  <a:tcPr marL="33216" marR="33216" marT="16608" marB="166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dirty="0"/>
                        <a:t>Springer (2017) – Farm Management Information Systems</a:t>
                      </a:r>
                    </a:p>
                  </a:txBody>
                  <a:tcPr marL="33216" marR="33216" marT="16608" marB="166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dirty="0"/>
                        <a:t>Digital farm record management</a:t>
                      </a:r>
                    </a:p>
                  </a:txBody>
                  <a:tcPr marL="33216" marR="33216" marT="16608" marB="166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dirty="0"/>
                        <a:t>Database-driven farm systems</a:t>
                      </a:r>
                    </a:p>
                  </a:txBody>
                  <a:tcPr marL="33216" marR="33216" marT="16608" marB="166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dirty="0"/>
                        <a:t>Improved documentation</a:t>
                      </a:r>
                    </a:p>
                  </a:txBody>
                  <a:tcPr marL="33216" marR="33216" marT="16608" marB="166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dirty="0"/>
                        <a:t>No biosecurity enforcement features</a:t>
                      </a:r>
                    </a:p>
                  </a:txBody>
                  <a:tcPr marL="33216" marR="33216" marT="16608" marB="166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7017313"/>
                  </a:ext>
                </a:extLst>
              </a:tr>
              <a:tr h="59793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/>
                        <a:t>8</a:t>
                      </a:r>
                    </a:p>
                  </a:txBody>
                  <a:tcPr marL="33216" marR="33216" marT="16608" marB="166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dirty="0"/>
                        <a:t>IEEE (2021) – Disease Surveillance Systems</a:t>
                      </a:r>
                    </a:p>
                  </a:txBody>
                  <a:tcPr marL="33216" marR="33216" marT="16608" marB="166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dirty="0"/>
                        <a:t>Disease outbreak detection</a:t>
                      </a:r>
                    </a:p>
                  </a:txBody>
                  <a:tcPr marL="33216" marR="33216" marT="16608" marB="166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dirty="0"/>
                        <a:t>Data analytics &amp; anomaly detection</a:t>
                      </a:r>
                    </a:p>
                  </a:txBody>
                  <a:tcPr marL="33216" marR="33216" marT="16608" marB="166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dirty="0"/>
                        <a:t>Early outbreak alerts possible</a:t>
                      </a:r>
                    </a:p>
                  </a:txBody>
                  <a:tcPr marL="33216" marR="33216" marT="16608" marB="166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/>
                        <a:t>Limited to health data only</a:t>
                      </a:r>
                    </a:p>
                  </a:txBody>
                  <a:tcPr marL="33216" marR="33216" marT="16608" marB="166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756124"/>
                  </a:ext>
                </a:extLst>
              </a:tr>
              <a:tr h="45994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/>
                        <a:t>9</a:t>
                      </a:r>
                    </a:p>
                  </a:txBody>
                  <a:tcPr marL="33216" marR="33216" marT="16608" marB="166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/>
                        <a:t>Elsevier (2020) – Precision Poultry Farming</a:t>
                      </a:r>
                    </a:p>
                  </a:txBody>
                  <a:tcPr marL="33216" marR="33216" marT="16608" marB="166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dirty="0"/>
                        <a:t>Poultry productivity improvement</a:t>
                      </a:r>
                    </a:p>
                  </a:txBody>
                  <a:tcPr marL="33216" marR="33216" marT="16608" marB="166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dirty="0"/>
                        <a:t>Data-driven decision systems</a:t>
                      </a:r>
                    </a:p>
                  </a:txBody>
                  <a:tcPr marL="33216" marR="33216" marT="16608" marB="166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dirty="0"/>
                        <a:t>Increased egg/meat yield</a:t>
                      </a:r>
                    </a:p>
                  </a:txBody>
                  <a:tcPr marL="33216" marR="33216" marT="16608" marB="166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/>
                        <a:t>No visitor or sanitation tracking</a:t>
                      </a:r>
                    </a:p>
                  </a:txBody>
                  <a:tcPr marL="33216" marR="33216" marT="16608" marB="166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3303780"/>
                  </a:ext>
                </a:extLst>
              </a:tr>
              <a:tr h="59793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/>
                        <a:t>10</a:t>
                      </a:r>
                    </a:p>
                  </a:txBody>
                  <a:tcPr marL="33216" marR="33216" marT="16608" marB="166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/>
                        <a:t>WHO (2022) – Zoonotic Disease Prevention</a:t>
                      </a:r>
                    </a:p>
                  </a:txBody>
                  <a:tcPr marL="33216" marR="33216" marT="16608" marB="166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dirty="0"/>
                        <a:t>Preventing animal-to-human disease spread</a:t>
                      </a:r>
                    </a:p>
                  </a:txBody>
                  <a:tcPr marL="33216" marR="33216" marT="16608" marB="166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dirty="0"/>
                        <a:t>Hygiene &amp; vaccination frameworks</a:t>
                      </a:r>
                    </a:p>
                  </a:txBody>
                  <a:tcPr marL="33216" marR="33216" marT="16608" marB="166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dirty="0"/>
                        <a:t>Strong prevention strategies</a:t>
                      </a:r>
                    </a:p>
                  </a:txBody>
                  <a:tcPr marL="33216" marR="33216" marT="16608" marB="166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/>
                        <a:t>No integrated farm-level monitoring system</a:t>
                      </a:r>
                    </a:p>
                  </a:txBody>
                  <a:tcPr marL="33216" marR="33216" marT="16608" marB="166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3145258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2A7F5BC7-5C18-4458-36C0-4097594F7A81}"/>
              </a:ext>
            </a:extLst>
          </p:cNvPr>
          <p:cNvSpPr txBox="1"/>
          <p:nvPr/>
        </p:nvSpPr>
        <p:spPr>
          <a:xfrm>
            <a:off x="172720" y="124938"/>
            <a:ext cx="6096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Literature Summary Table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5240375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E120630-F9B9-EB5D-FE64-95337ACA9107}"/>
              </a:ext>
            </a:extLst>
          </p:cNvPr>
          <p:cNvSpPr txBox="1"/>
          <p:nvPr/>
        </p:nvSpPr>
        <p:spPr>
          <a:xfrm>
            <a:off x="201561" y="109077"/>
            <a:ext cx="11788877" cy="686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/>
              <a:t>Objectives :</a:t>
            </a:r>
          </a:p>
          <a:p>
            <a:endParaRPr lang="en-US" sz="1400" b="1" dirty="0"/>
          </a:p>
          <a:p>
            <a:r>
              <a:rPr lang="en-US" sz="2400" b="1" dirty="0"/>
              <a:t>Data Integration :</a:t>
            </a:r>
          </a:p>
          <a:p>
            <a:r>
              <a:rPr lang="en-US" sz="2400" dirty="0"/>
              <a:t>Collect and unify farm data including health records, vaccination schedules, and visitor logs.</a:t>
            </a:r>
          </a:p>
          <a:p>
            <a:endParaRPr lang="en-US" sz="1000" dirty="0"/>
          </a:p>
          <a:p>
            <a:r>
              <a:rPr lang="en-US" sz="2400" b="1" dirty="0"/>
              <a:t>Biosecurity Monitoring :</a:t>
            </a:r>
          </a:p>
          <a:p>
            <a:r>
              <a:rPr lang="en-US" sz="2400" dirty="0"/>
              <a:t>Track sanitation measures and farm entry restrictions.</a:t>
            </a:r>
          </a:p>
          <a:p>
            <a:endParaRPr lang="en-US" sz="1000" dirty="0"/>
          </a:p>
          <a:p>
            <a:r>
              <a:rPr lang="en-US" sz="2400" b="1" dirty="0"/>
              <a:t>Automation :</a:t>
            </a:r>
          </a:p>
          <a:p>
            <a:r>
              <a:rPr lang="en-US" sz="2400" dirty="0"/>
              <a:t>Enable automatic vaccination reminders and alert notifications.</a:t>
            </a:r>
          </a:p>
          <a:p>
            <a:endParaRPr lang="en-US" sz="1000" dirty="0"/>
          </a:p>
          <a:p>
            <a:r>
              <a:rPr lang="en-US" sz="2400" b="1" dirty="0"/>
              <a:t>Health Management :</a:t>
            </a:r>
          </a:p>
          <a:p>
            <a:r>
              <a:rPr lang="en-US" sz="2400" dirty="0"/>
              <a:t>Maintain animal-wise health records and mortality reports.</a:t>
            </a:r>
          </a:p>
          <a:p>
            <a:endParaRPr lang="en-US" sz="1000" dirty="0"/>
          </a:p>
          <a:p>
            <a:r>
              <a:rPr lang="en-US" sz="2400" b="1" dirty="0"/>
              <a:t>Reporting :</a:t>
            </a:r>
          </a:p>
          <a:p>
            <a:r>
              <a:rPr lang="en-US" sz="2400" dirty="0"/>
              <a:t>Generate PDF/Excel reports for farm owners and regulatory authorities.</a:t>
            </a:r>
          </a:p>
          <a:p>
            <a:endParaRPr lang="en-US" sz="1000" dirty="0"/>
          </a:p>
          <a:p>
            <a:r>
              <a:rPr lang="en-US" sz="2400" b="1" dirty="0"/>
              <a:t>Accessibility :</a:t>
            </a:r>
          </a:p>
          <a:p>
            <a:r>
              <a:rPr lang="en-US" sz="2400" dirty="0"/>
              <a:t>Provide role-based access (Admin, Farm Manager, Worker).</a:t>
            </a:r>
          </a:p>
          <a:p>
            <a:endParaRPr lang="en-US" sz="1000" dirty="0"/>
          </a:p>
          <a:p>
            <a:r>
              <a:rPr lang="en-US" sz="2400" b="1" dirty="0"/>
              <a:t>Scalability :</a:t>
            </a:r>
          </a:p>
          <a:p>
            <a:r>
              <a:rPr lang="en-US" sz="2400" dirty="0"/>
              <a:t>Design modular architecture to support multiple farms and future IoT integration.</a:t>
            </a:r>
          </a:p>
        </p:txBody>
      </p:sp>
    </p:spTree>
    <p:extLst>
      <p:ext uri="{BB962C8B-B14F-4D97-AF65-F5344CB8AC3E}">
        <p14:creationId xmlns:p14="http://schemas.microsoft.com/office/powerpoint/2010/main" val="26708938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9935008-DFCD-5041-104B-C8F4F48F721D}"/>
              </a:ext>
            </a:extLst>
          </p:cNvPr>
          <p:cNvSpPr txBox="1"/>
          <p:nvPr/>
        </p:nvSpPr>
        <p:spPr>
          <a:xfrm>
            <a:off x="78658" y="78658"/>
            <a:ext cx="12034684" cy="6986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Existing Methods &amp; Drawbacks :</a:t>
            </a:r>
          </a:p>
          <a:p>
            <a:endParaRPr lang="en-US" b="1" dirty="0"/>
          </a:p>
          <a:p>
            <a:pPr marL="457200" indent="-457200">
              <a:buAutoNum type="arabicPeriod"/>
            </a:pPr>
            <a:r>
              <a:rPr lang="en-US" sz="2400" b="1" dirty="0"/>
              <a:t>Manual Record Keeping System :</a:t>
            </a:r>
          </a:p>
          <a:p>
            <a:endParaRPr lang="en-US" sz="2400" b="1" dirty="0"/>
          </a:p>
          <a:p>
            <a:r>
              <a:rPr lang="en-US" sz="2400" b="1" dirty="0"/>
              <a:t>Description:</a:t>
            </a:r>
            <a:br>
              <a:rPr lang="en-US" sz="2400" dirty="0"/>
            </a:br>
            <a:r>
              <a:rPr lang="en-US" sz="2400" dirty="0"/>
              <a:t>Most pig and poultry farms maintain records in physical registers. Health status, vaccination schedules, mortality data, visitor entries, and feed consumption are written manually.</a:t>
            </a:r>
          </a:p>
          <a:p>
            <a:endParaRPr lang="en-US" sz="1000" dirty="0"/>
          </a:p>
          <a:p>
            <a:r>
              <a:rPr lang="en-US" sz="2400" b="1" dirty="0"/>
              <a:t>Strengths:</a:t>
            </a:r>
            <a:endParaRPr lang="en-US" sz="2400" dirty="0"/>
          </a:p>
          <a:p>
            <a:r>
              <a:rPr lang="en-US" sz="2400" dirty="0"/>
              <a:t>Very low cost</a:t>
            </a:r>
          </a:p>
          <a:p>
            <a:r>
              <a:rPr lang="en-US" sz="2400" dirty="0"/>
              <a:t>Easy to implement</a:t>
            </a:r>
          </a:p>
          <a:p>
            <a:r>
              <a:rPr lang="en-US" sz="2400" dirty="0"/>
              <a:t>No technical knowledge required</a:t>
            </a:r>
          </a:p>
          <a:p>
            <a:endParaRPr lang="en-US" sz="1000" dirty="0"/>
          </a:p>
          <a:p>
            <a:r>
              <a:rPr lang="en-US" sz="2400" b="1" dirty="0"/>
              <a:t>Drawbacks:</a:t>
            </a:r>
            <a:endParaRPr lang="en-US" sz="2400" dirty="0"/>
          </a:p>
          <a:p>
            <a:r>
              <a:rPr lang="en-US" sz="2400" dirty="0"/>
              <a:t>High risk of data loss or damage</a:t>
            </a:r>
          </a:p>
          <a:p>
            <a:r>
              <a:rPr lang="en-US" sz="2400" dirty="0"/>
              <a:t>Human errors in recording data</a:t>
            </a:r>
          </a:p>
          <a:p>
            <a:r>
              <a:rPr lang="en-US" sz="2400" dirty="0"/>
              <a:t>No automated reminders for vaccination</a:t>
            </a:r>
          </a:p>
          <a:p>
            <a:r>
              <a:rPr lang="en-US" sz="2400" dirty="0"/>
              <a:t>Difficult to track disease history</a:t>
            </a:r>
          </a:p>
          <a:p>
            <a:r>
              <a:rPr lang="en-US" sz="2400" dirty="0"/>
              <a:t>No data analytics or trend monitoring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84677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793B6DF-9231-3EB0-D036-7BD751D753F0}"/>
              </a:ext>
            </a:extLst>
          </p:cNvPr>
          <p:cNvSpPr txBox="1"/>
          <p:nvPr/>
        </p:nvSpPr>
        <p:spPr>
          <a:xfrm>
            <a:off x="167149" y="275304"/>
            <a:ext cx="1202485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2. Excel-Based Farm Tracking :</a:t>
            </a:r>
          </a:p>
          <a:p>
            <a:endParaRPr lang="en-US" sz="2400" b="1" dirty="0"/>
          </a:p>
          <a:p>
            <a:r>
              <a:rPr lang="en-US" sz="2400" b="1" dirty="0"/>
              <a:t>Description:</a:t>
            </a:r>
            <a:br>
              <a:rPr lang="en-US" sz="2400" dirty="0"/>
            </a:br>
            <a:r>
              <a:rPr lang="en-US" sz="2400" dirty="0"/>
              <a:t>Some medium-scale farms use Excel sheets to maintain digital records of livestock, vaccination, and feed inventory.</a:t>
            </a:r>
          </a:p>
          <a:p>
            <a:endParaRPr lang="en-US" sz="1000" dirty="0"/>
          </a:p>
          <a:p>
            <a:r>
              <a:rPr lang="en-US" sz="2400" b="1" dirty="0"/>
              <a:t>Strengths:</a:t>
            </a:r>
            <a:endParaRPr lang="en-US" sz="2400" dirty="0"/>
          </a:p>
          <a:p>
            <a:r>
              <a:rPr lang="en-US" sz="2400" dirty="0"/>
              <a:t>Better than manual registers</a:t>
            </a:r>
          </a:p>
          <a:p>
            <a:r>
              <a:rPr lang="en-US" sz="2400" dirty="0"/>
              <a:t>Data can be stored digitally</a:t>
            </a:r>
          </a:p>
          <a:p>
            <a:r>
              <a:rPr lang="en-US" sz="2400" dirty="0"/>
              <a:t>Basic calculations possible</a:t>
            </a:r>
          </a:p>
          <a:p>
            <a:endParaRPr lang="en-US" sz="1000" dirty="0"/>
          </a:p>
          <a:p>
            <a:r>
              <a:rPr lang="en-US" sz="2400" b="1" dirty="0"/>
              <a:t>Drawbacks:</a:t>
            </a:r>
            <a:endParaRPr lang="en-US" sz="2400" dirty="0"/>
          </a:p>
          <a:p>
            <a:r>
              <a:rPr lang="en-US" sz="2400" dirty="0"/>
              <a:t>Not centralized (multiple sheets for different tasks)</a:t>
            </a:r>
          </a:p>
          <a:p>
            <a:r>
              <a:rPr lang="en-US" sz="2400" dirty="0"/>
              <a:t>No real-time alert system</a:t>
            </a:r>
          </a:p>
          <a:p>
            <a:r>
              <a:rPr lang="en-US" sz="2400" dirty="0"/>
              <a:t>No proper biosecurity monitoring</a:t>
            </a:r>
          </a:p>
          <a:p>
            <a:r>
              <a:rPr lang="en-US" sz="2400" dirty="0"/>
              <a:t>Limited scalability for large farms</a:t>
            </a:r>
          </a:p>
          <a:p>
            <a:r>
              <a:rPr lang="en-US" sz="2400" dirty="0"/>
              <a:t>Requires manual updates</a:t>
            </a:r>
          </a:p>
          <a:p>
            <a:r>
              <a:rPr lang="en-US" sz="2400" dirty="0"/>
              <a:t>No role-based access control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5961579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DF369CA-733A-B6B8-B7EF-2E9640A47E75}"/>
              </a:ext>
            </a:extLst>
          </p:cNvPr>
          <p:cNvSpPr txBox="1"/>
          <p:nvPr/>
        </p:nvSpPr>
        <p:spPr>
          <a:xfrm>
            <a:off x="152400" y="74971"/>
            <a:ext cx="11833123" cy="69249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/>
              <a:t>Proposed Method :</a:t>
            </a:r>
          </a:p>
          <a:p>
            <a:endParaRPr lang="en-US" b="1" dirty="0"/>
          </a:p>
          <a:p>
            <a:r>
              <a:rPr lang="en-IN" sz="2400" b="1" dirty="0"/>
              <a:t>Data Collection:</a:t>
            </a:r>
          </a:p>
          <a:p>
            <a:r>
              <a:rPr lang="en-IN" sz="2400" dirty="0"/>
              <a:t>Farm data entered through secure login portal.</a:t>
            </a:r>
          </a:p>
          <a:p>
            <a:endParaRPr lang="en-IN" sz="1000" dirty="0"/>
          </a:p>
          <a:p>
            <a:r>
              <a:rPr lang="en-IN" sz="2400" b="1" dirty="0"/>
              <a:t>Data Storage:</a:t>
            </a:r>
          </a:p>
          <a:p>
            <a:r>
              <a:rPr lang="en-IN" sz="2400" dirty="0"/>
              <a:t>MySQL/PostgreSQL database for structured storage.</a:t>
            </a:r>
          </a:p>
          <a:p>
            <a:endParaRPr lang="en-IN" sz="1000" dirty="0"/>
          </a:p>
          <a:p>
            <a:r>
              <a:rPr lang="en-IN" sz="2400" b="1" dirty="0"/>
              <a:t>Processing:</a:t>
            </a:r>
          </a:p>
          <a:p>
            <a:r>
              <a:rPr lang="en-IN" sz="2400" dirty="0"/>
              <a:t>Backend logic using Java (Servlet/JSP) or Flask for business rules.</a:t>
            </a:r>
          </a:p>
          <a:p>
            <a:endParaRPr lang="en-IN" sz="1000" dirty="0"/>
          </a:p>
          <a:p>
            <a:r>
              <a:rPr lang="en-IN" sz="2400" b="1" dirty="0"/>
              <a:t>Visualization:</a:t>
            </a:r>
          </a:p>
          <a:p>
            <a:r>
              <a:rPr lang="en-IN" sz="2400" dirty="0"/>
              <a:t>React.js dashboard with charts and alerts.</a:t>
            </a:r>
          </a:p>
          <a:p>
            <a:endParaRPr lang="en-IN" sz="1000" dirty="0"/>
          </a:p>
          <a:p>
            <a:r>
              <a:rPr lang="en-IN" sz="2400" b="1" dirty="0"/>
              <a:t>Reporting:</a:t>
            </a:r>
          </a:p>
          <a:p>
            <a:r>
              <a:rPr lang="en-IN" sz="2400" dirty="0"/>
              <a:t>Export reports in PDF/Excel format.</a:t>
            </a:r>
          </a:p>
          <a:p>
            <a:endParaRPr lang="en-IN" sz="1000" dirty="0"/>
          </a:p>
          <a:p>
            <a:r>
              <a:rPr lang="en-IN" sz="2400" b="1" dirty="0"/>
              <a:t>Security:</a:t>
            </a:r>
          </a:p>
          <a:p>
            <a:r>
              <a:rPr lang="en-IN" sz="2400" dirty="0"/>
              <a:t>Role-based authentication and data encryption.</a:t>
            </a:r>
          </a:p>
          <a:p>
            <a:endParaRPr lang="en-IN" sz="1000" dirty="0"/>
          </a:p>
          <a:p>
            <a:r>
              <a:rPr lang="en-IN" sz="2400" b="1" dirty="0"/>
              <a:t>Scalability:</a:t>
            </a:r>
          </a:p>
          <a:p>
            <a:r>
              <a:rPr lang="en-US" sz="2400" dirty="0"/>
              <a:t>Easily scalable for future expansion.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79563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D94FC82-5798-B2FD-1701-03C58DDA7293}"/>
              </a:ext>
            </a:extLst>
          </p:cNvPr>
          <p:cNvSpPr txBox="1"/>
          <p:nvPr/>
        </p:nvSpPr>
        <p:spPr>
          <a:xfrm>
            <a:off x="114300" y="151179"/>
            <a:ext cx="10720849" cy="5416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/>
              <a:t>Feasibility Study :</a:t>
            </a:r>
          </a:p>
          <a:p>
            <a:endParaRPr lang="en-US" b="1" dirty="0"/>
          </a:p>
          <a:p>
            <a:r>
              <a:rPr lang="en-US" sz="2400" b="1" dirty="0"/>
              <a:t>Technical Feasibility:</a:t>
            </a:r>
          </a:p>
          <a:p>
            <a:r>
              <a:rPr lang="en-US" sz="2400" dirty="0"/>
              <a:t>Uses proven technologies (React, Java, MySQL).</a:t>
            </a:r>
          </a:p>
          <a:p>
            <a:endParaRPr lang="en-US" sz="1000" dirty="0"/>
          </a:p>
          <a:p>
            <a:r>
              <a:rPr lang="en-US" sz="2400" b="1" dirty="0"/>
              <a:t>Operational Feasibility:</a:t>
            </a:r>
          </a:p>
          <a:p>
            <a:r>
              <a:rPr lang="en-US" sz="2400" dirty="0"/>
              <a:t>Simple user interface suitable for farm workers.  </a:t>
            </a:r>
            <a:endParaRPr lang="en-US" sz="1000" dirty="0"/>
          </a:p>
          <a:p>
            <a:r>
              <a:rPr lang="en-US" sz="2400" b="1" dirty="0"/>
              <a:t>Economic Feasibility:</a:t>
            </a:r>
          </a:p>
          <a:p>
            <a:r>
              <a:rPr lang="en-US" sz="2400" dirty="0"/>
              <a:t>Open-source stack → low development and maintenance cost.</a:t>
            </a:r>
          </a:p>
          <a:p>
            <a:endParaRPr lang="en-US" sz="1000" dirty="0"/>
          </a:p>
          <a:p>
            <a:r>
              <a:rPr lang="en-US" sz="2400" b="1" dirty="0"/>
              <a:t>Resource Feasibility:</a:t>
            </a:r>
          </a:p>
          <a:p>
            <a:r>
              <a:rPr lang="en-US" sz="2400" dirty="0"/>
              <a:t>3-member team with division into frontend, backend, database, and documentation.</a:t>
            </a:r>
          </a:p>
          <a:p>
            <a:endParaRPr lang="en-US" sz="1000" dirty="0"/>
          </a:p>
          <a:p>
            <a:r>
              <a:rPr lang="en-US" sz="2400" b="1" dirty="0"/>
              <a:t>Scalability Feasibility:</a:t>
            </a:r>
          </a:p>
          <a:p>
            <a:r>
              <a:rPr lang="en-US" sz="2400" dirty="0"/>
              <a:t>Designed to support future growth, users, and features seamlessly.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46690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72EAB92-1B08-26D3-F3BE-4E1F71696BFE}"/>
              </a:ext>
            </a:extLst>
          </p:cNvPr>
          <p:cNvSpPr txBox="1"/>
          <p:nvPr/>
        </p:nvSpPr>
        <p:spPr>
          <a:xfrm>
            <a:off x="107540" y="89654"/>
            <a:ext cx="6302785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/>
              <a:t>Architecture Diagram &amp; Explanation :</a:t>
            </a:r>
          </a:p>
          <a:p>
            <a:endParaRPr lang="en-US" sz="2000" b="1" dirty="0"/>
          </a:p>
          <a:p>
            <a:endParaRPr lang="en-US" sz="2000" b="1" dirty="0"/>
          </a:p>
          <a:p>
            <a:r>
              <a:rPr lang="en-IN" sz="2400" b="1" dirty="0"/>
              <a:t>Flow:</a:t>
            </a:r>
            <a:br>
              <a:rPr lang="en-IN" sz="2400" dirty="0"/>
            </a:br>
            <a:r>
              <a:rPr lang="en-IN" sz="2400" dirty="0"/>
              <a:t>Data → Process → Store → Backend → Dashboard → Users</a:t>
            </a:r>
          </a:p>
          <a:p>
            <a:endParaRPr lang="en-IN" sz="1000" dirty="0"/>
          </a:p>
          <a:p>
            <a:r>
              <a:rPr lang="en-US" sz="2400" b="1" dirty="0"/>
              <a:t>Data Sources:</a:t>
            </a:r>
            <a:r>
              <a:rPr lang="en-US" sz="2400" dirty="0"/>
              <a:t> Collects farm information.</a:t>
            </a:r>
          </a:p>
          <a:p>
            <a:endParaRPr lang="en-US" sz="1000" dirty="0"/>
          </a:p>
          <a:p>
            <a:r>
              <a:rPr lang="en-US" sz="2400" b="1" dirty="0"/>
              <a:t>Processing:</a:t>
            </a:r>
            <a:r>
              <a:rPr lang="en-US" sz="2400" dirty="0"/>
              <a:t> Cleans and organizes data.</a:t>
            </a:r>
          </a:p>
          <a:p>
            <a:endParaRPr lang="en-US" sz="1000" dirty="0"/>
          </a:p>
          <a:p>
            <a:r>
              <a:rPr lang="en-US" sz="2400" b="1" dirty="0"/>
              <a:t>Storage:</a:t>
            </a:r>
            <a:r>
              <a:rPr lang="en-US" sz="2400" dirty="0"/>
              <a:t> Saves data in database.</a:t>
            </a:r>
          </a:p>
          <a:p>
            <a:endParaRPr lang="en-US" sz="1000" dirty="0"/>
          </a:p>
          <a:p>
            <a:r>
              <a:rPr lang="en-US" sz="2400" b="1" dirty="0"/>
              <a:t>Backend:</a:t>
            </a:r>
            <a:r>
              <a:rPr lang="en-US" sz="2400" dirty="0"/>
              <a:t> Handles logic and APIs.</a:t>
            </a:r>
            <a:endParaRPr lang="en-US" sz="1000" dirty="0"/>
          </a:p>
          <a:p>
            <a:endParaRPr lang="en-US" sz="1000" dirty="0"/>
          </a:p>
          <a:p>
            <a:r>
              <a:rPr lang="en-US" sz="2400" b="1" dirty="0"/>
              <a:t>Frontend:</a:t>
            </a:r>
            <a:r>
              <a:rPr lang="en-US" sz="2400" dirty="0"/>
              <a:t> Shows dashboard and reports.</a:t>
            </a:r>
          </a:p>
          <a:p>
            <a:endParaRPr lang="en-US" sz="1000" dirty="0"/>
          </a:p>
          <a:p>
            <a:r>
              <a:rPr lang="en-US" sz="2400" b="1" dirty="0"/>
              <a:t>Users:</a:t>
            </a:r>
            <a:r>
              <a:rPr lang="en-US" sz="2400" dirty="0"/>
              <a:t> Access and manage farm data.</a:t>
            </a:r>
          </a:p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4A3649F-BDDB-C45B-8E84-7D0A949923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3335" y="0"/>
            <a:ext cx="457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86263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DCF9F70-AB60-5A79-7B7D-B2615B48A610}"/>
              </a:ext>
            </a:extLst>
          </p:cNvPr>
          <p:cNvSpPr txBox="1"/>
          <p:nvPr/>
        </p:nvSpPr>
        <p:spPr>
          <a:xfrm>
            <a:off x="107849" y="66675"/>
            <a:ext cx="10972800" cy="74174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/>
              <a:t>Modules :</a:t>
            </a:r>
          </a:p>
          <a:p>
            <a:endParaRPr lang="en-US" b="1" dirty="0"/>
          </a:p>
          <a:p>
            <a:r>
              <a:rPr lang="en-US" sz="2400" b="1" dirty="0"/>
              <a:t>User Management Module:</a:t>
            </a:r>
            <a:r>
              <a:rPr lang="en-US" sz="2400" dirty="0"/>
              <a:t> Manages user login, registration, and role-based access control.</a:t>
            </a:r>
          </a:p>
          <a:p>
            <a:endParaRPr lang="en-US" sz="1000" dirty="0"/>
          </a:p>
          <a:p>
            <a:r>
              <a:rPr lang="en-US" sz="2400" b="1" dirty="0"/>
              <a:t>Animal Health Management Module:</a:t>
            </a:r>
            <a:r>
              <a:rPr lang="en-US" sz="2400" dirty="0"/>
              <a:t> Stores and tracks animal health records, treatments, and mortality data.</a:t>
            </a:r>
          </a:p>
          <a:p>
            <a:endParaRPr lang="en-US" sz="1000" dirty="0"/>
          </a:p>
          <a:p>
            <a:r>
              <a:rPr lang="en-US" sz="2400" b="1" dirty="0"/>
              <a:t>Vaccination Management Module:</a:t>
            </a:r>
            <a:r>
              <a:rPr lang="en-US" sz="2400" dirty="0"/>
              <a:t> Schedules vaccinations and sends reminders to prevent diseases.</a:t>
            </a:r>
          </a:p>
          <a:p>
            <a:endParaRPr lang="en-US" sz="1000" dirty="0"/>
          </a:p>
          <a:p>
            <a:r>
              <a:rPr lang="en-US" sz="2400" b="1" dirty="0"/>
              <a:t>Biosecurity Monitoring Module:</a:t>
            </a:r>
            <a:r>
              <a:rPr lang="en-US" sz="2400" dirty="0"/>
              <a:t> Records visitor logs and sanitation activities to maintain farm safety.</a:t>
            </a:r>
          </a:p>
          <a:p>
            <a:endParaRPr lang="en-US" sz="1000" dirty="0"/>
          </a:p>
          <a:p>
            <a:r>
              <a:rPr lang="en-US" sz="2400" b="1" dirty="0"/>
              <a:t>Feed &amp; Inventory Management Module:</a:t>
            </a:r>
            <a:r>
              <a:rPr lang="en-US" sz="2400" dirty="0"/>
              <a:t> Tracks feed and medicine stock with low-stock alerts.</a:t>
            </a:r>
            <a:endParaRPr lang="en-US" sz="1000" dirty="0"/>
          </a:p>
          <a:p>
            <a:endParaRPr lang="en-US" sz="1000" dirty="0"/>
          </a:p>
          <a:p>
            <a:r>
              <a:rPr lang="en-US" sz="2400" b="1" dirty="0"/>
              <a:t>Reporting &amp; Analytics Module:</a:t>
            </a:r>
            <a:r>
              <a:rPr lang="en-US" sz="2400" dirty="0"/>
              <a:t> Generates reports and dashboards for better decision-making.</a:t>
            </a:r>
          </a:p>
          <a:p>
            <a:endParaRPr lang="en-US" sz="1000" dirty="0"/>
          </a:p>
          <a:p>
            <a:r>
              <a:rPr lang="en-US" sz="2400" b="1" dirty="0"/>
              <a:t>Security &amp; Backup Module:</a:t>
            </a:r>
            <a:r>
              <a:rPr lang="en-US" sz="2400" dirty="0"/>
              <a:t> Protects data through secure access and regular backups.</a:t>
            </a:r>
          </a:p>
          <a:p>
            <a:endParaRPr lang="en-US" sz="24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57882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63A9A7A-8E3E-8E17-4C13-7B41DA1FD5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8225661"/>
              </p:ext>
            </p:extLst>
          </p:nvPr>
        </p:nvGraphicFramePr>
        <p:xfrm>
          <a:off x="117987" y="952500"/>
          <a:ext cx="11818375" cy="5957000"/>
        </p:xfrm>
        <a:graphic>
          <a:graphicData uri="http://schemas.openxmlformats.org/drawingml/2006/table">
            <a:tbl>
              <a:tblPr/>
              <a:tblGrid>
                <a:gridCol w="2363675">
                  <a:extLst>
                    <a:ext uri="{9D8B030D-6E8A-4147-A177-3AD203B41FA5}">
                      <a16:colId xmlns:a16="http://schemas.microsoft.com/office/drawing/2014/main" val="3143040621"/>
                    </a:ext>
                  </a:extLst>
                </a:gridCol>
                <a:gridCol w="2363675">
                  <a:extLst>
                    <a:ext uri="{9D8B030D-6E8A-4147-A177-3AD203B41FA5}">
                      <a16:colId xmlns:a16="http://schemas.microsoft.com/office/drawing/2014/main" val="3893870545"/>
                    </a:ext>
                  </a:extLst>
                </a:gridCol>
                <a:gridCol w="2363675">
                  <a:extLst>
                    <a:ext uri="{9D8B030D-6E8A-4147-A177-3AD203B41FA5}">
                      <a16:colId xmlns:a16="http://schemas.microsoft.com/office/drawing/2014/main" val="3790688941"/>
                    </a:ext>
                  </a:extLst>
                </a:gridCol>
                <a:gridCol w="2363675">
                  <a:extLst>
                    <a:ext uri="{9D8B030D-6E8A-4147-A177-3AD203B41FA5}">
                      <a16:colId xmlns:a16="http://schemas.microsoft.com/office/drawing/2014/main" val="3835804869"/>
                    </a:ext>
                  </a:extLst>
                </a:gridCol>
                <a:gridCol w="2363675">
                  <a:extLst>
                    <a:ext uri="{9D8B030D-6E8A-4147-A177-3AD203B41FA5}">
                      <a16:colId xmlns:a16="http://schemas.microsoft.com/office/drawing/2014/main" val="2025142014"/>
                    </a:ext>
                  </a:extLst>
                </a:gridCol>
              </a:tblGrid>
              <a:tr h="8763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 dirty="0"/>
                        <a:t>Layer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 dirty="0"/>
                        <a:t>Technology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 dirty="0"/>
                        <a:t>Purpose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 dirty="0"/>
                        <a:t>Why Chosen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 dirty="0"/>
                        <a:t>Role in Project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590739"/>
                  </a:ext>
                </a:extLst>
              </a:tr>
              <a:tr h="48651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dirty="0"/>
                        <a:t>Frontend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/>
                        <a:t>React.js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dirty="0"/>
                        <a:t>UI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/>
                        <a:t>Fast &amp; Modular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/>
                        <a:t>Dashboard Interface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8644339"/>
                  </a:ext>
                </a:extLst>
              </a:tr>
              <a:tr h="85154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/>
                        <a:t>Backend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/>
                        <a:t>Java (JSP/Servlet)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/>
                        <a:t>Business Logic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dirty="0"/>
                        <a:t>Reliable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/>
                        <a:t>API &amp; Processing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408537"/>
                  </a:ext>
                </a:extLst>
              </a:tr>
              <a:tr h="85154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/>
                        <a:t>Database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/>
                        <a:t>MySQL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/>
                        <a:t>Data Storage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/>
                        <a:t>Scalable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/>
                        <a:t>Farm Data Repository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8894295"/>
                  </a:ext>
                </a:extLst>
              </a:tr>
              <a:tr h="85154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/>
                        <a:t>Analytics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/>
                        <a:t>Python (Pandas)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/>
                        <a:t>Data Analysis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/>
                        <a:t>Efficient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/>
                        <a:t>Trend &amp; Risk Analysis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5478982"/>
                  </a:ext>
                </a:extLst>
              </a:tr>
              <a:tr h="85154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/>
                        <a:t>Server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/>
                        <a:t>Apache Tomcat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/>
                        <a:t>Deployment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dirty="0"/>
                        <a:t>Open-source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dirty="0"/>
                        <a:t>Web Hosting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036704"/>
                  </a:ext>
                </a:extLst>
              </a:tr>
              <a:tr h="85154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2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2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2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2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2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4216993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6B1E683D-AC96-BC6F-8A63-266702A9892F}"/>
              </a:ext>
            </a:extLst>
          </p:cNvPr>
          <p:cNvSpPr txBox="1"/>
          <p:nvPr/>
        </p:nvSpPr>
        <p:spPr>
          <a:xfrm>
            <a:off x="117987" y="157316"/>
            <a:ext cx="100977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Technology Stack(Hardware and Software Details) :</a:t>
            </a:r>
          </a:p>
        </p:txBody>
      </p:sp>
    </p:spTree>
    <p:extLst>
      <p:ext uri="{BB962C8B-B14F-4D97-AF65-F5344CB8AC3E}">
        <p14:creationId xmlns:p14="http://schemas.microsoft.com/office/powerpoint/2010/main" val="5886799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1146665-CC2F-A7CC-3107-721BD3A6EEE6}"/>
              </a:ext>
            </a:extLst>
          </p:cNvPr>
          <p:cNvSpPr txBox="1"/>
          <p:nvPr/>
        </p:nvSpPr>
        <p:spPr>
          <a:xfrm>
            <a:off x="1170038" y="373625"/>
            <a:ext cx="1006823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dirty="0">
                <a:latin typeface="Cambria" panose="02040503050406030204" pitchFamily="18" charset="0"/>
                <a:ea typeface="Cambria" panose="02040503050406030204" pitchFamily="18" charset="0"/>
              </a:rPr>
              <a:t>Timeline of the Project (Gantt Chart)</a:t>
            </a:r>
            <a:endParaRPr lang="en-US" sz="4400" dirty="0"/>
          </a:p>
        </p:txBody>
      </p:sp>
      <p:pic>
        <p:nvPicPr>
          <p:cNvPr id="3" name="table">
            <a:extLst>
              <a:ext uri="{FF2B5EF4-FFF2-40B4-BE49-F238E27FC236}">
                <a16:creationId xmlns:a16="http://schemas.microsoft.com/office/drawing/2014/main" id="{2223FD48-A97F-C9F5-F5F2-660E05D438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3161" y="1544895"/>
            <a:ext cx="9065343" cy="3768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12445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AB0A616-C30B-FB60-E1C5-3B03E01D919B}"/>
              </a:ext>
            </a:extLst>
          </p:cNvPr>
          <p:cNvSpPr txBox="1"/>
          <p:nvPr/>
        </p:nvSpPr>
        <p:spPr>
          <a:xfrm>
            <a:off x="108155" y="98323"/>
            <a:ext cx="11946193" cy="66479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/>
              <a:t>Academic References (IEEE/Scopus/Web of Science) :</a:t>
            </a:r>
            <a:endParaRPr lang="en-US" b="1" dirty="0"/>
          </a:p>
          <a:p>
            <a:pPr marL="457200" indent="-457200">
              <a:buFont typeface="+mj-lt"/>
              <a:buAutoNum type="arabicPeriod"/>
            </a:pPr>
            <a:r>
              <a:rPr lang="en-US" sz="2200" dirty="0"/>
              <a:t>T. Köhne et al., “Design and Evaluation of a Livestock Farm Management System,” </a:t>
            </a:r>
            <a:r>
              <a:rPr lang="en-US" sz="2200" i="1" dirty="0"/>
              <a:t>IEEE Access</a:t>
            </a:r>
            <a:r>
              <a:rPr lang="en-US" sz="2200" dirty="0"/>
              <a:t>, 2021.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 dirty="0"/>
              <a:t>L. Wang and X. Li, “Smart Livestock Monitoring Using IoT and Cloud Computing,” </a:t>
            </a:r>
            <a:r>
              <a:rPr lang="en-US" sz="2200" i="1" dirty="0"/>
              <a:t>Sensors</a:t>
            </a:r>
            <a:r>
              <a:rPr lang="en-US" sz="2200" dirty="0"/>
              <a:t>, 2020.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 dirty="0"/>
              <a:t>F. Zhang, M. Hasan, “Precision Poultry Farming: A Review,” </a:t>
            </a:r>
            <a:r>
              <a:rPr lang="en-US" sz="2200" i="1" dirty="0"/>
              <a:t>Computers and Electronics in Agriculture</a:t>
            </a:r>
            <a:r>
              <a:rPr lang="en-US" sz="2200" dirty="0"/>
              <a:t>, 2019.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 dirty="0"/>
              <a:t>J. Smith et al., “Biosecurity Strategies for Livestock Disease Prevention,” </a:t>
            </a:r>
            <a:r>
              <a:rPr lang="en-US" sz="2200" i="1" dirty="0"/>
              <a:t>Journal of Animal Science</a:t>
            </a:r>
            <a:r>
              <a:rPr lang="en-US" sz="2200" dirty="0"/>
              <a:t>, 2020.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 dirty="0"/>
              <a:t>FAO, “Biosecurity in Animal Production and Veterinary Public Health,” </a:t>
            </a:r>
            <a:r>
              <a:rPr lang="en-US" sz="2200" i="1" dirty="0"/>
              <a:t>FAO Animal Health Manual</a:t>
            </a:r>
            <a:r>
              <a:rPr lang="en-US" sz="2200" dirty="0"/>
              <a:t>, 2018.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 dirty="0"/>
              <a:t>T. Nguyen and H. Kim, “Automated Livestock Health Tracking System Using Wearable Sensors,” </a:t>
            </a:r>
            <a:r>
              <a:rPr lang="en-US" sz="2200" i="1" dirty="0"/>
              <a:t>IEEE Internet of Things Journal</a:t>
            </a:r>
            <a:r>
              <a:rPr lang="en-US" sz="2200" dirty="0"/>
              <a:t>, 2020.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 dirty="0"/>
              <a:t>R. Singh and S. Sharma, “A Farm ERP — Integrated Information System for Livestock Farms,” </a:t>
            </a:r>
            <a:r>
              <a:rPr lang="en-US" sz="2200" i="1" dirty="0"/>
              <a:t>International Journal of Agricultural Management</a:t>
            </a:r>
            <a:r>
              <a:rPr lang="en-US" sz="2200" dirty="0"/>
              <a:t>, 2019.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 dirty="0"/>
              <a:t>P. Kumar and A. Gupta, “Disease Detection in Poultry Farms Using Machine Learning,” </a:t>
            </a:r>
            <a:r>
              <a:rPr lang="en-US" sz="2200" i="1" dirty="0"/>
              <a:t>Elsevier Computing in Agriculture</a:t>
            </a:r>
            <a:r>
              <a:rPr lang="en-US" sz="2200" dirty="0"/>
              <a:t>, 2021.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 dirty="0"/>
              <a:t>H. Al-Amin et al., “Cloud-Based Farm Management Systems: Architecture and Case Study,” </a:t>
            </a:r>
            <a:r>
              <a:rPr lang="en-US" sz="2200" i="1" dirty="0"/>
              <a:t>Journal of Network and Computer Applications</a:t>
            </a:r>
            <a:r>
              <a:rPr lang="en-US" sz="2200" dirty="0"/>
              <a:t>, 2022.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 dirty="0"/>
              <a:t>B. Patel and R. Patel, “Livestock Vaccination Scheduling and Alert System,” </a:t>
            </a:r>
            <a:r>
              <a:rPr lang="en-US" sz="2200" i="1" dirty="0"/>
              <a:t>International Journal of Biological Engineering</a:t>
            </a:r>
            <a:r>
              <a:rPr lang="en-US" sz="2200" dirty="0"/>
              <a:t>, 2019.</a:t>
            </a:r>
          </a:p>
        </p:txBody>
      </p:sp>
    </p:spTree>
    <p:extLst>
      <p:ext uri="{BB962C8B-B14F-4D97-AF65-F5344CB8AC3E}">
        <p14:creationId xmlns:p14="http://schemas.microsoft.com/office/powerpoint/2010/main" val="4356908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CF887DD-887A-5721-F23D-C4F546C77487}"/>
              </a:ext>
            </a:extLst>
          </p:cNvPr>
          <p:cNvSpPr txBox="1"/>
          <p:nvPr/>
        </p:nvSpPr>
        <p:spPr>
          <a:xfrm>
            <a:off x="108155" y="137652"/>
            <a:ext cx="11975690" cy="71404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11"/>
            </a:pPr>
            <a:r>
              <a:rPr lang="en-US" sz="2200" dirty="0"/>
              <a:t>S. Rao and P. Reddy, “Monitoring Farm Biosecurity Using Mobile Information Systems,” </a:t>
            </a:r>
            <a:r>
              <a:rPr lang="en-US" sz="2200" i="1" dirty="0"/>
              <a:t>Journal of Mobile Computing and Applications</a:t>
            </a:r>
            <a:r>
              <a:rPr lang="en-US" sz="2200" dirty="0"/>
              <a:t>, 2021.</a:t>
            </a:r>
          </a:p>
          <a:p>
            <a:pPr marL="457200" indent="-457200">
              <a:buFont typeface="+mj-lt"/>
              <a:buAutoNum type="arabicPeriod" startAt="11"/>
            </a:pPr>
            <a:r>
              <a:rPr lang="en-US" sz="2200" dirty="0"/>
              <a:t>M. R. Islam et al., “Database Design for Livestock Management Systems,” </a:t>
            </a:r>
            <a:r>
              <a:rPr lang="en-US" sz="2200" i="1" dirty="0"/>
              <a:t>ACM Transactions on Database Systems</a:t>
            </a:r>
            <a:r>
              <a:rPr lang="en-US" sz="2200" dirty="0"/>
              <a:t>, 2018.</a:t>
            </a:r>
          </a:p>
          <a:p>
            <a:pPr marL="457200" indent="-457200">
              <a:buFont typeface="+mj-lt"/>
              <a:buAutoNum type="arabicPeriod" startAt="11"/>
            </a:pPr>
            <a:r>
              <a:rPr lang="en-US" sz="2200" dirty="0"/>
              <a:t>L. D. Truong et al., “Farm Management Information Systems: Adoption and Challenges,” </a:t>
            </a:r>
            <a:r>
              <a:rPr lang="en-US" sz="2200" i="1" dirty="0"/>
              <a:t>Journal of Rural Studies</a:t>
            </a:r>
            <a:r>
              <a:rPr lang="en-US" sz="2200" dirty="0"/>
              <a:t>, 2019.</a:t>
            </a:r>
          </a:p>
          <a:p>
            <a:pPr marL="457200" indent="-457200">
              <a:buFont typeface="+mj-lt"/>
              <a:buAutoNum type="arabicPeriod" startAt="11"/>
            </a:pPr>
            <a:r>
              <a:rPr lang="en-US" sz="2200" dirty="0"/>
              <a:t>C. Zhao and Y. Shen, “Decision Support Systems for Livestock Disease Control,” </a:t>
            </a:r>
            <a:r>
              <a:rPr lang="en-US" sz="2200" i="1" dirty="0"/>
              <a:t>Expert Systems with Applications</a:t>
            </a:r>
            <a:r>
              <a:rPr lang="en-US" sz="2200" dirty="0"/>
              <a:t>, 2020.</a:t>
            </a:r>
          </a:p>
          <a:p>
            <a:pPr marL="457200" indent="-457200">
              <a:buFont typeface="+mj-lt"/>
              <a:buAutoNum type="arabicPeriod" startAt="11"/>
            </a:pPr>
            <a:r>
              <a:rPr lang="en-US" sz="2200" dirty="0"/>
              <a:t>P. Singh et al., “Evaluating Farm-Level Biosecurity Practices in Poultry Production,” </a:t>
            </a:r>
            <a:r>
              <a:rPr lang="en-US" sz="2200" i="1" dirty="0"/>
              <a:t>Preventive Veterinary Medicine</a:t>
            </a:r>
            <a:r>
              <a:rPr lang="en-US" sz="2200" dirty="0"/>
              <a:t>, 2021.</a:t>
            </a:r>
          </a:p>
          <a:p>
            <a:pPr marL="457200" indent="-457200">
              <a:buFont typeface="+mj-lt"/>
              <a:buAutoNum type="arabicPeriod" startAt="11"/>
            </a:pPr>
            <a:r>
              <a:rPr lang="en-US" sz="2200" dirty="0"/>
              <a:t>G. Johnson and T. Clark, “Architecture for Scalable Agricultural Data Systems,” </a:t>
            </a:r>
            <a:r>
              <a:rPr lang="en-US" sz="2200" i="1" dirty="0"/>
              <a:t>IEEE Transactions on Cloud Computing</a:t>
            </a:r>
            <a:r>
              <a:rPr lang="en-US" sz="2200" dirty="0"/>
              <a:t>, 2022.</a:t>
            </a:r>
          </a:p>
          <a:p>
            <a:pPr marL="457200" indent="-457200">
              <a:buFont typeface="+mj-lt"/>
              <a:buAutoNum type="arabicPeriod" startAt="11"/>
            </a:pPr>
            <a:r>
              <a:rPr lang="en-US" sz="2200" dirty="0"/>
              <a:t>K. Brown et al., “Impact of Digital Farm Tools in Smallholder Productivity,” </a:t>
            </a:r>
            <a:r>
              <a:rPr lang="en-US" sz="2200" i="1" dirty="0"/>
              <a:t>Agricultural Systems</a:t>
            </a:r>
            <a:r>
              <a:rPr lang="en-US" sz="2200" dirty="0"/>
              <a:t>, 2020.</a:t>
            </a:r>
          </a:p>
          <a:p>
            <a:pPr marL="457200" indent="-457200">
              <a:buFont typeface="+mj-lt"/>
              <a:buAutoNum type="arabicPeriod" startAt="11"/>
            </a:pPr>
            <a:r>
              <a:rPr lang="en-US" sz="2200" dirty="0"/>
              <a:t>J. Lee and D. Kim, “Web-Based Information Systems for Livestock Management,” </a:t>
            </a:r>
            <a:r>
              <a:rPr lang="en-US" sz="2200" i="1" dirty="0"/>
              <a:t>International Journal of Web Engineering</a:t>
            </a:r>
            <a:r>
              <a:rPr lang="en-US" sz="2200" dirty="0"/>
              <a:t>, 2018.</a:t>
            </a:r>
          </a:p>
          <a:p>
            <a:pPr marL="457200" indent="-457200">
              <a:buFont typeface="+mj-lt"/>
              <a:buAutoNum type="arabicPeriod" startAt="11"/>
            </a:pPr>
            <a:r>
              <a:rPr lang="en-US" sz="2200" dirty="0"/>
              <a:t>R. Dasgupta and S. Pal, “Review of Smart Farming and Animal Tracking,” </a:t>
            </a:r>
            <a:r>
              <a:rPr lang="en-US" sz="2200" i="1" dirty="0"/>
              <a:t>Computers in Agriculture and Food Research</a:t>
            </a:r>
            <a:r>
              <a:rPr lang="en-US" sz="2200" dirty="0"/>
              <a:t>, 2021.</a:t>
            </a:r>
          </a:p>
          <a:p>
            <a:pPr marL="457200" indent="-457200">
              <a:buFont typeface="+mj-lt"/>
              <a:buAutoNum type="arabicPeriod" startAt="11"/>
            </a:pPr>
            <a:r>
              <a:rPr lang="en-US" sz="2200" dirty="0"/>
              <a:t>WHO, “Guidelines for Zoonotic Disease Prevention in Animal-Human Interfaces,” </a:t>
            </a:r>
            <a:r>
              <a:rPr lang="en-US" sz="2200" i="1" dirty="0"/>
              <a:t>World Health Organization</a:t>
            </a:r>
            <a:r>
              <a:rPr lang="en-US" sz="2200" dirty="0"/>
              <a:t>, 2022.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73323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532A7B-6563-0D9D-8A9B-DD4134797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55752"/>
          </a:xfrm>
        </p:spPr>
        <p:txBody>
          <a:bodyPr/>
          <a:lstStyle/>
          <a:p>
            <a:r>
              <a:rPr lang="en-IN" dirty="0"/>
              <a:t>Few Output Images: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096C6D7-0E84-91FF-7FF6-D0B353FE6BF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961" y="1809136"/>
            <a:ext cx="5879691" cy="3824748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13BB6CB-A81A-C75B-D39E-4D23B5CFC5B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0129" y="1809136"/>
            <a:ext cx="5397910" cy="3824748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7D7B8F4-C1E7-6094-74E9-860312D2BA50}"/>
              </a:ext>
            </a:extLst>
          </p:cNvPr>
          <p:cNvSpPr txBox="1"/>
          <p:nvPr/>
        </p:nvSpPr>
        <p:spPr>
          <a:xfrm>
            <a:off x="353961" y="5754018"/>
            <a:ext cx="114840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	        Fig 1(Login &amp; Registration Page)  			                    Fig 2(Overall Dashboard)</a:t>
            </a:r>
          </a:p>
        </p:txBody>
      </p:sp>
    </p:spTree>
    <p:extLst>
      <p:ext uri="{BB962C8B-B14F-4D97-AF65-F5344CB8AC3E}">
        <p14:creationId xmlns:p14="http://schemas.microsoft.com/office/powerpoint/2010/main" val="35860403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6C64E2E-9909-C500-2E42-79B0F220A5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439" y="216104"/>
            <a:ext cx="4994786" cy="302854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D25E803-E769-93A9-0694-82FD789A754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16104"/>
            <a:ext cx="5535561" cy="3028541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ADDF74C-E8EF-F971-9F4D-A1A3FFD227B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439" y="3883742"/>
            <a:ext cx="4994787" cy="2541844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81BEF26-8D0C-79CF-9E15-ECFEF4A2CD4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3883742"/>
            <a:ext cx="5535561" cy="2541843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4E88EE7-1705-95C3-E545-C58947EF592F}"/>
              </a:ext>
            </a:extLst>
          </p:cNvPr>
          <p:cNvSpPr txBox="1"/>
          <p:nvPr/>
        </p:nvSpPr>
        <p:spPr>
          <a:xfrm>
            <a:off x="560439" y="3244645"/>
            <a:ext cx="105303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                         Fig 3(Livestock Tracking)				             Fig 4(Health &amp; Biosecurity)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72E9AC6-566E-E425-BB5D-DAB94943E505}"/>
              </a:ext>
            </a:extLst>
          </p:cNvPr>
          <p:cNvSpPr txBox="1"/>
          <p:nvPr/>
        </p:nvSpPr>
        <p:spPr>
          <a:xfrm>
            <a:off x="560439" y="6457230"/>
            <a:ext cx="110711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	  Fig 5(Inventory Management)				 Fig 6(Notifications)</a:t>
            </a:r>
          </a:p>
        </p:txBody>
      </p:sp>
    </p:spTree>
    <p:extLst>
      <p:ext uri="{BB962C8B-B14F-4D97-AF65-F5344CB8AC3E}">
        <p14:creationId xmlns:p14="http://schemas.microsoft.com/office/powerpoint/2010/main" val="990525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Github Link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Google Shape;115;p17"/>
          <p:cNvSpPr txBox="1">
            <a:spLocks/>
          </p:cNvSpPr>
          <p:nvPr/>
        </p:nvSpPr>
        <p:spPr>
          <a:xfrm>
            <a:off x="965200" y="12954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Google Shape;115;p17"/>
          <p:cNvSpPr txBox="1">
            <a:spLocks/>
          </p:cNvSpPr>
          <p:nvPr/>
        </p:nvSpPr>
        <p:spPr>
          <a:xfrm>
            <a:off x="812800" y="1143000"/>
            <a:ext cx="10668000" cy="41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The Github link provided should have public access permission.</a:t>
            </a: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Github Link</a:t>
            </a: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None/>
            </a:pPr>
            <a:r>
              <a:rPr lang="en-IN" dirty="0"/>
              <a:t> </a:t>
            </a:r>
            <a:r>
              <a:rPr lang="en-IN" b="1" u="sng" dirty="0">
                <a:hlinkClick r:id="rId3"/>
              </a:rPr>
              <a:t>https://github.com/jaswanthyanamala-coder/Digital-Farm-Management-Portal</a:t>
            </a:r>
            <a:endParaRPr lang="en-IN" dirty="0"/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63573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63A00FF-89F0-DC87-D900-930227B33E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2811" y="1441315"/>
            <a:ext cx="3893305" cy="39354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</TotalTime>
  <Words>1951</Words>
  <Application>Microsoft Office PowerPoint</Application>
  <PresentationFormat>Widescreen</PresentationFormat>
  <Paragraphs>325</Paragraphs>
  <Slides>21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Arial</vt:lpstr>
      <vt:lpstr>Calibri</vt:lpstr>
      <vt:lpstr>Calibri Light</vt:lpstr>
      <vt:lpstr>Cambria</vt:lpstr>
      <vt:lpstr>Verdana</vt:lpstr>
      <vt:lpstr>Wingdings</vt:lpstr>
      <vt:lpstr>Office Theme</vt:lpstr>
      <vt:lpstr>Development of a Digital Farm Management Portal for implementing Biosecurity measures in Pig and Poultry Farms</vt:lpstr>
      <vt:lpstr>Problem Statement Number : SIH25006 </vt:lpstr>
      <vt:lpstr>Content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Few Output Images:</vt:lpstr>
      <vt:lpstr>PowerPoint Presentation</vt:lpstr>
      <vt:lpstr>Github Link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Jaswanth Reddy</dc:creator>
  <cp:lastModifiedBy>Satya Narayana Purohith</cp:lastModifiedBy>
  <cp:revision>5</cp:revision>
  <dcterms:created xsi:type="dcterms:W3CDTF">2025-08-11T14:33:12Z</dcterms:created>
  <dcterms:modified xsi:type="dcterms:W3CDTF">2026-04-23T14:03:21Z</dcterms:modified>
</cp:coreProperties>
</file>