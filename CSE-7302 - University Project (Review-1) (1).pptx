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69" r:id="rId4"/>
    <p:sldId id="272" r:id="rId5"/>
    <p:sldId id="274" r:id="rId6"/>
    <p:sldId id="273" r:id="rId7"/>
    <p:sldId id="275" r:id="rId8"/>
    <p:sldId id="278" r:id="rId9"/>
    <p:sldId id="279" r:id="rId10"/>
    <p:sldId id="280" r:id="rId11"/>
    <p:sldId id="281" r:id="rId12"/>
    <p:sldId id="268" r:id="rId13"/>
    <p:sldId id="266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7690726-49DA-4552-BDEB-330DD8EA8BD9}" styleName="Table_0">
    <a:wholeTbl>
      <a:tcTxStyle b="off" i="off">
        <a:font>
          <a:latin typeface="Bookman Old Style"/>
          <a:ea typeface="Bookman Old Style"/>
          <a:cs typeface="Bookman Old Style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 rtl="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 rtl="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 rtl="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216962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0805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2441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9114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367894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9560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051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65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59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050877" y="1322386"/>
            <a:ext cx="10363200" cy="147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2032000" y="3326641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  <a:defRPr sz="2000" b="1">
                <a:solidFill>
                  <a:srgbClr val="17365D"/>
                </a:solidFill>
              </a:defRPr>
            </a:lvl1pPr>
            <a:lvl2pPr lvl="1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2pPr>
            <a:lvl3pPr lvl="2" algn="ctr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4pPr>
            <a:lvl5pPr lvl="4" algn="ctr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5pPr>
            <a:lvl6pPr lvl="5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>
                <a:solidFill>
                  <a:srgbClr val="17365D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>
                <a:solidFill>
                  <a:schemeClr val="dk1"/>
                </a:solidFill>
              </a:defRPr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>
                <a:solidFill>
                  <a:schemeClr val="dk1"/>
                </a:solidFill>
              </a:defRPr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>
                <a:solidFill>
                  <a:schemeClr val="dk1"/>
                </a:solidFill>
              </a:defRPr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>
                <a:solidFill>
                  <a:schemeClr val="dk1"/>
                </a:solidFill>
              </a:defRPr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3084" y="4406903"/>
            <a:ext cx="10363200" cy="13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000"/>
              <a:buFont typeface="Verdana"/>
              <a:buNone/>
              <a:defRPr sz="4000" b="1" cap="none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 rtl="0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 rtl="0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 rtl="0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609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body" idx="2"/>
          </p:nvPr>
        </p:nvSpPr>
        <p:spPr>
          <a:xfrm>
            <a:off x="6197600" y="1600203"/>
            <a:ext cx="53847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6"/>
          <p:cNvSpPr txBox="1">
            <a:spLocks noGrp="1"/>
          </p:cNvSpPr>
          <p:nvPr>
            <p:ph type="title"/>
          </p:nvPr>
        </p:nvSpPr>
        <p:spPr>
          <a:xfrm>
            <a:off x="859368" y="304800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>
                <a:solidFill>
                  <a:srgbClr val="FF0000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1"/>
          </p:nvPr>
        </p:nvSpPr>
        <p:spPr>
          <a:xfrm>
            <a:off x="609600" y="1535113"/>
            <a:ext cx="53868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body" idx="2"/>
          </p:nvPr>
        </p:nvSpPr>
        <p:spPr>
          <a:xfrm>
            <a:off x="609600" y="2174875"/>
            <a:ext cx="53868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3"/>
          </p:nvPr>
        </p:nvSpPr>
        <p:spPr>
          <a:xfrm>
            <a:off x="6193369" y="1535113"/>
            <a:ext cx="5388900" cy="6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4"/>
          </p:nvPr>
        </p:nvSpPr>
        <p:spPr>
          <a:xfrm>
            <a:off x="6193369" y="2174875"/>
            <a:ext cx="5388900" cy="395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 txBox="1">
            <a:spLocks noGrp="1"/>
          </p:cNvSpPr>
          <p:nvPr>
            <p:ph type="title"/>
          </p:nvPr>
        </p:nvSpPr>
        <p:spPr>
          <a:xfrm>
            <a:off x="3860800" y="274638"/>
            <a:ext cx="77217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52" name="Google Shape;52;p7" descr="C:\Users\AMMU\Desktop\Border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2505209" y="139874"/>
            <a:ext cx="9686793" cy="698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609602" y="273050"/>
            <a:ext cx="4011000" cy="116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body" idx="1"/>
          </p:nvPr>
        </p:nvSpPr>
        <p:spPr>
          <a:xfrm>
            <a:off x="4766733" y="273053"/>
            <a:ext cx="6815700" cy="58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2"/>
          </p:nvPr>
        </p:nvSpPr>
        <p:spPr>
          <a:xfrm>
            <a:off x="609602" y="1435103"/>
            <a:ext cx="4011000" cy="469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>
            <a:spLocks noGrp="1"/>
          </p:cNvSpPr>
          <p:nvPr>
            <p:ph type="title"/>
          </p:nvPr>
        </p:nvSpPr>
        <p:spPr>
          <a:xfrm>
            <a:off x="2389717" y="4800600"/>
            <a:ext cx="73152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Font typeface="Verdana"/>
              <a:buNone/>
              <a:defRPr sz="20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>
            <a:spLocks noGrp="1"/>
          </p:cNvSpPr>
          <p:nvPr>
            <p:ph type="pic" idx="2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7" name="Google Shape;67;p10"/>
          <p:cNvSpPr txBox="1">
            <a:spLocks noGrp="1"/>
          </p:cNvSpPr>
          <p:nvPr>
            <p:ph type="body" idx="1"/>
          </p:nvPr>
        </p:nvSpPr>
        <p:spPr>
          <a:xfrm>
            <a:off x="2389717" y="5367338"/>
            <a:ext cx="7315200" cy="80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body" idx="1"/>
          </p:nvPr>
        </p:nvSpPr>
        <p:spPr>
          <a:xfrm rot="5400000">
            <a:off x="3670300" y="-1714499"/>
            <a:ext cx="4953000" cy="106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>
            <a:spLocks noGrp="1"/>
          </p:cNvSpPr>
          <p:nvPr>
            <p:ph type="title"/>
          </p:nvPr>
        </p:nvSpPr>
        <p:spPr>
          <a:xfrm rot="5400000">
            <a:off x="7285050" y="1828791"/>
            <a:ext cx="5851500" cy="27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body" idx="1"/>
          </p:nvPr>
        </p:nvSpPr>
        <p:spPr>
          <a:xfrm rot="5400000">
            <a:off x="1697000" y="-812859"/>
            <a:ext cx="5851500" cy="802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FF0000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2800" y="1143001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609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165600" y="6356353"/>
            <a:ext cx="38607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737600" y="6356353"/>
            <a:ext cx="28449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1" name="Google Shape;11;p1"/>
          <p:cNvCxnSpPr/>
          <p:nvPr/>
        </p:nvCxnSpPr>
        <p:spPr>
          <a:xfrm>
            <a:off x="812800" y="914400"/>
            <a:ext cx="10668000" cy="0"/>
          </a:xfrm>
          <a:prstGeom prst="straightConnector1">
            <a:avLst/>
          </a:prstGeom>
          <a:noFill/>
          <a:ln w="57150" cap="flat" cmpd="thickThin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2" name="Google Shape;12;p1"/>
          <p:cNvPicPr preferRelativeResize="0"/>
          <p:nvPr/>
        </p:nvPicPr>
        <p:blipFill rotWithShape="1">
          <a:blip r:embed="rId13">
            <a:alphaModFix/>
          </a:blip>
          <a:srcRect b="18046"/>
          <a:stretch/>
        </p:blipFill>
        <p:spPr>
          <a:xfrm>
            <a:off x="0" y="5991366"/>
            <a:ext cx="12192001" cy="866633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>
            <a:spLocks noGrp="1"/>
          </p:cNvSpPr>
          <p:nvPr>
            <p:ph type="ctrTitle"/>
          </p:nvPr>
        </p:nvSpPr>
        <p:spPr>
          <a:xfrm>
            <a:off x="790469" y="1069102"/>
            <a:ext cx="10363200" cy="9628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/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Development of a Digital Farm Management Portal for implementing Biosecurity measures in Pig and Poultry Farms</a:t>
            </a:r>
            <a:endParaRPr sz="24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790468" y="2045352"/>
            <a:ext cx="4391131" cy="5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None/>
            </a:pPr>
            <a:r>
              <a:rPr lang="en-GB" sz="1800" dirty="0">
                <a:latin typeface="Cambria" panose="02040503050406030204" pitchFamily="18" charset="0"/>
                <a:ea typeface="Cambria" panose="02040503050406030204" pitchFamily="18" charset="0"/>
              </a:rPr>
              <a:t>Batch Number: </a:t>
            </a:r>
            <a:r>
              <a:rPr lang="en-GB" sz="1800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CSE_100</a:t>
            </a:r>
            <a:endParaRPr sz="1800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0" name="Google Shape;90;p13"/>
          <p:cNvSpPr txBox="1"/>
          <p:nvPr/>
        </p:nvSpPr>
        <p:spPr>
          <a:xfrm>
            <a:off x="6480195" y="2513340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Supervision of,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Poonam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Professor / Associate Professor / Assistant Professor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School of Computer Science and Engineering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graphicFrame>
        <p:nvGraphicFramePr>
          <p:cNvPr id="89" name="Google Shape;89;p13"/>
          <p:cNvGraphicFramePr/>
          <p:nvPr>
            <p:extLst>
              <p:ext uri="{D42A27DB-BD31-4B8C-83A1-F6EECF244321}">
                <p14:modId xmlns:p14="http://schemas.microsoft.com/office/powerpoint/2010/main" val="64095961"/>
              </p:ext>
            </p:extLst>
          </p:nvPr>
        </p:nvGraphicFramePr>
        <p:xfrm>
          <a:off x="553347" y="2721840"/>
          <a:ext cx="5346963" cy="2194620"/>
        </p:xfrm>
        <a:graphic>
          <a:graphicData uri="http://schemas.openxmlformats.org/drawingml/2006/table">
            <a:tbl>
              <a:tblPr firstRow="1" bandRow="1">
                <a:noFill/>
                <a:tableStyleId>{57690726-49DA-4552-BDEB-330DD8EA8BD9}</a:tableStyleId>
              </a:tblPr>
              <a:tblGrid>
                <a:gridCol w="20132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33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6243">
                <a:tc>
                  <a:txBody>
                    <a:bodyPr/>
                    <a:lstStyle/>
                    <a:p>
                      <a:pPr marL="0" marR="0" lvl="1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Roll Number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 b="1" u="none" strike="noStrike" cap="none" dirty="0">
                          <a:solidFill>
                            <a:srgbClr val="17365D"/>
                          </a:solidFill>
                        </a:rPr>
                        <a:t>Student Name</a:t>
                      </a:r>
                      <a:endParaRPr sz="1800" b="1" u="none" strike="noStrike" cap="none" dirty="0">
                        <a:solidFill>
                          <a:srgbClr val="17365D"/>
                        </a:solidFill>
                      </a:endParaRP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+mj-lt"/>
                        <a:buNone/>
                      </a:pPr>
                      <a:r>
                        <a:rPr lang="en-US" sz="1800" u="none" strike="noStrike" cap="none" dirty="0"/>
                        <a:t>20221CSE0454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Yanamala Jaswanth Reddy</a:t>
                      </a:r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20221CSE0506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Amaregouda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20221CSE0451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 dirty="0"/>
                        <a:t>Purohith Satyanarayana</a:t>
                      </a: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6243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 u="none" strike="noStrike" cap="none" dirty="0"/>
                    </a:p>
                  </a:txBody>
                  <a:tcPr marL="91450" marR="91450" marT="45725" marB="457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1" name="Google Shape;91;p13"/>
          <p:cNvSpPr txBox="1"/>
          <p:nvPr/>
        </p:nvSpPr>
        <p:spPr>
          <a:xfrm>
            <a:off x="2832225" y="136441"/>
            <a:ext cx="5498973" cy="729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CSE7302-</a:t>
            </a: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University Project</a:t>
            </a: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31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Review-1</a:t>
            </a:r>
            <a:endParaRPr sz="18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0" y="4533900"/>
            <a:ext cx="12249915" cy="15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CSE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1800" b="1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Blessed Prince</a:t>
            </a: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Project Coordinator: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 Muthuraju V</a:t>
            </a:r>
            <a:endParaRPr lang="en-US" sz="1800" b="1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18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Project Coordinators: </a:t>
            </a:r>
            <a:r>
              <a:rPr lang="en-US" sz="1800" b="1" i="0" u="none" strike="noStrike" cap="none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Sampath A K , Dr. Geetha A </a:t>
            </a:r>
            <a:endParaRPr sz="18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Content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655782" y="1466273"/>
            <a:ext cx="10668000" cy="3924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Problem Statement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  <a:p>
            <a:pPr marL="495300" lvl="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  <a:endParaRPr lang="en-US" sz="32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indent="-342900" algn="just">
              <a:lnSpc>
                <a:spcPct val="2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Git-hub Link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</a:t>
            </a: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323799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Problem Statement Number : </a:t>
            </a:r>
            <a:r>
              <a:rPr lang="en-GB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SIH25006 </a:t>
            </a:r>
            <a:endParaRPr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812800" y="985684"/>
            <a:ext cx="10668000" cy="5872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Organization: 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Category (Hardware / Software / Both) : Software</a:t>
            </a:r>
          </a:p>
          <a:p>
            <a:pPr marL="342900" lvl="0" indent="-190500" algn="just">
              <a:spcBef>
                <a:spcPts val="0"/>
              </a:spcBef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>
              <a:spcBef>
                <a:spcPts val="0"/>
              </a:spcBef>
              <a:buNone/>
            </a:pP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Problem Description: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There is an urgent need for a user-friendly, digital platform that empowers farmers to implement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monitor, and sustain robust biosecurity practices on their farms. 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Customizable risk assessment tools based on local epidemiological conditions.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• Interactive training modules and best practice guidelines tailored for pig and poultry production systems.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• Compliance tracking features aligned with regulatory frameworks to help farmers work toward disease-free compartment recognition.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• Real-time alerts and monitoring dashboards for disease outbreaks and biosecurity breaches.</a:t>
            </a:r>
          </a:p>
          <a:p>
            <a:pPr marL="342900" lvl="0" indent="-190500" algn="just">
              <a:lnSpc>
                <a:spcPct val="200000"/>
              </a:lnSpc>
              <a:spcBef>
                <a:spcPts val="0"/>
              </a:spcBef>
              <a:buNone/>
            </a:pPr>
            <a:r>
              <a:rPr lang="en-US" sz="1600" dirty="0">
                <a:latin typeface="Cambria" panose="02040503050406030204" pitchFamily="18" charset="0"/>
                <a:ea typeface="Cambria" panose="02040503050406030204" pitchFamily="18" charset="0"/>
              </a:rPr>
              <a:t>• Multilingual and mobile-first design to ensure accessibility in remote and rural areas.</a:t>
            </a:r>
          </a:p>
        </p:txBody>
      </p:sp>
    </p:spTree>
    <p:extLst>
      <p:ext uri="{BB962C8B-B14F-4D97-AF65-F5344CB8AC3E}">
        <p14:creationId xmlns:p14="http://schemas.microsoft.com/office/powerpoint/2010/main" val="2143451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Software and Hardware Requirements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Software Requirements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Operating System: Windows / Linux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Frontend Technologies: HTML, CSS, Vanilla JavaScript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Backend Technology: Node.js with Express.js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Database: MySQL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Development Tool: Visual Studio Code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Version Control: Git and GitHub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Web Browser: Google Chrome / Mozilla Firefox</a:t>
            </a:r>
          </a:p>
          <a:p>
            <a:pPr marL="76200" indent="0">
              <a:buNone/>
            </a:pPr>
            <a:b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</a:b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Hardware Requirements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Processor: Intel Core i3 or higher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RAM: Minimum 8 GB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Storage: Minimum 256 GB HDD/SSD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Internet Connectivity: Required for development and updates</a:t>
            </a: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388325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</a:pPr>
            <a:r>
              <a:rPr lang="en-GB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body" idx="1"/>
          </p:nvPr>
        </p:nvSpPr>
        <p:spPr>
          <a:xfrm>
            <a:off x="393291" y="1230298"/>
            <a:ext cx="11405418" cy="5160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Pig and poultry farms are highly vulnerable to infectious disease outbreaks due to inadequate biosecurity practices.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Many farms continue to rely on manual record-keeping and unstructured monitoring of livestock health, hygiene, and sanitation activities.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The absence of systematic documentation makes it difficult to detect biosecurity breaches at an early stage.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Small and marginal farmers often lack access to simple digital tools that support biosecurity compliance and disease prevention.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Existing digital solutions are either too complex, costly, or not tailored to farm-level biosecurity implementation.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There is a need for a user-friendly digital platform that enables pig and poultry farmers to implement, monitor, and sustain biosecurity measures effectively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495300" lvl="0" indent="-3429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Wingdings" panose="05000000000000000000" pitchFamily="2" charset="2"/>
              <a:buChar char="Ø"/>
            </a:pP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152400" lvl="0" indent="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797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Analysis of Problem Statement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Technology Stack Components: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Frontend</a:t>
            </a:r>
          </a:p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HTML – Structure of the web pages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CSS – Styling and layout for user-friendly interfaces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Vanilla JavaScript – Client-side validation and interaction</a:t>
            </a:r>
          </a:p>
          <a:p>
            <a:pPr marL="7620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Backend</a:t>
            </a:r>
          </a:p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Node.js – Server-side logic and request handling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      Express.js – RESTful API development for farm data processing</a:t>
            </a:r>
          </a:p>
          <a:p>
            <a:pPr marL="7620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Database</a:t>
            </a:r>
          </a:p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     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MySQL – Relational database for storing livestock, health, and biosecurity records       </a:t>
            </a: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08161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C5BBCB-2B96-4C75-C65B-20EDE4B56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Objectives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FA3690-AF08-7CCF-6EDE-9A69F72C57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L="76200" indent="0">
              <a:buNone/>
            </a:pPr>
            <a:r>
              <a:rPr lang="en-US" sz="2200" b="1" dirty="0">
                <a:latin typeface="Cambria" panose="02040503050406030204" pitchFamily="18" charset="0"/>
                <a:ea typeface="Cambria" panose="02040503050406030204" pitchFamily="18" charset="0"/>
              </a:rPr>
              <a:t>Primary Objective :</a:t>
            </a:r>
          </a:p>
          <a:p>
            <a:pPr marL="76200" indent="0">
              <a:buNone/>
            </a:pP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design and develop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Digital Farm Management Portal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that supports the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implementation and monitoring of biosecurity measures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in pig and poultry farms.</a:t>
            </a:r>
          </a:p>
          <a:p>
            <a:pPr marL="76200" indent="0">
              <a:buNone/>
            </a:pP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76200" indent="0">
              <a:buNone/>
            </a:pPr>
            <a:r>
              <a:rPr lang="en-US" b="1" dirty="0">
                <a:latin typeface="Cambria" panose="02040503050406030204" pitchFamily="18" charset="0"/>
                <a:ea typeface="Cambria" panose="02040503050406030204" pitchFamily="18" charset="0"/>
              </a:rPr>
              <a:t>Secondary Objectives</a:t>
            </a: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maintain structured digital records of pig and poultry batches for traceability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document and monitor health, vaccination, and sanitation activities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support biosecurity compliance through systematic record-keeping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reduce dependency on manual farm logs and paperwork</a:t>
            </a:r>
          </a:p>
          <a:p>
            <a:pPr marL="7620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To improve disease prevention and farm-level biosecurity awareness</a:t>
            </a:r>
          </a:p>
          <a:p>
            <a:pPr marL="76200" indent="0">
              <a:buNone/>
            </a:pPr>
            <a:endParaRPr lang="en-US" b="1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2355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AA105-5D04-F4A5-B330-03383B207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Background and Related work for title Selection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B5303-28FD-4C90-8B2B-82C3B3052B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251156"/>
            <a:ext cx="10668000" cy="495300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Biosecurity is essential in pig and poultry farming to prevent infectious disease outbreaks such as Avian Influenza and African Swine Fever.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Existing studies highlight the role of digital systems in improving livestock health management and record-keeping.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However, most current farm management solutions focus on production and analytics rather than biosecurity enforcement.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Many available systems are complex or unsuitable for small and marginal farmers.</a:t>
            </a:r>
          </a:p>
          <a:p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This gap justifies the selection of a </a:t>
            </a:r>
            <a:r>
              <a:rPr lang="en-US" sz="1800" b="1" dirty="0">
                <a:latin typeface="Cambria" panose="02040503050406030204" pitchFamily="18" charset="0"/>
                <a:ea typeface="Cambria" panose="02040503050406030204" pitchFamily="18" charset="0"/>
              </a:rPr>
              <a:t>Digital Farm Management Portal</a:t>
            </a:r>
            <a:r>
              <a:rPr lang="en-US" sz="1800" dirty="0">
                <a:latin typeface="Cambria" panose="02040503050406030204" pitchFamily="18" charset="0"/>
                <a:ea typeface="Cambria" panose="02040503050406030204" pitchFamily="18" charset="0"/>
              </a:rPr>
              <a:t> focused on implementing biosecurity measures in pig and poultry farms</a:t>
            </a:r>
            <a:r>
              <a:rPr lang="en-US" sz="1800" dirty="0"/>
              <a:t>.</a:t>
            </a:r>
            <a:endParaRPr lang="en-US" sz="1800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341952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4B5E8A-DDC8-7725-324D-5EA35112A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Innovation or Novel contributions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F84507-BD2C-B84F-9EFF-1EC0529F65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2800" y="1310150"/>
            <a:ext cx="10668000" cy="4953000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Focuses specifically on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biosecurity implementation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in pig and poultry farms rather than general farm management.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Provides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structured digital approach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to record health, hygiene, and biosecurity activities.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Supports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farm-level traceability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of livestock batches and biosecurity practices.</a:t>
            </a:r>
          </a:p>
          <a:p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Designed as a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simple, low-cost web portal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suitable for small and marginal farmers.</a:t>
            </a:r>
          </a:p>
          <a:p>
            <a:pPr marL="76200" indent="0">
              <a:buNone/>
            </a:pPr>
            <a:endParaRPr lang="en-US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Promotes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</a:rPr>
              <a:t>preventive disease control</a:t>
            </a:r>
            <a:r>
              <a:rPr 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 through systematic monitoring and documentation.</a:t>
            </a:r>
          </a:p>
        </p:txBody>
      </p:sp>
    </p:spTree>
    <p:extLst>
      <p:ext uri="{BB962C8B-B14F-4D97-AF65-F5344CB8AC3E}">
        <p14:creationId xmlns:p14="http://schemas.microsoft.com/office/powerpoint/2010/main" val="1313169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89057-3E12-16D5-40E4-ECAAD55F40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Cambria" panose="02040503050406030204" pitchFamily="18" charset="0"/>
                <a:ea typeface="Cambria" panose="02040503050406030204" pitchFamily="18" charset="0"/>
              </a:rPr>
              <a:t>Timeline of the Project(Gantt Chart)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7E3CF6-04C7-6565-8149-67419C3507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76200" indent="0"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Phase wise Reviews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ADAACC-FB44-21CD-3600-42230B4183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61935253"/>
              </p:ext>
            </p:extLst>
          </p:nvPr>
        </p:nvGraphicFramePr>
        <p:xfrm>
          <a:off x="1858295" y="1848465"/>
          <a:ext cx="9065343" cy="3768210"/>
        </p:xfrm>
        <a:graphic>
          <a:graphicData uri="http://schemas.openxmlformats.org/drawingml/2006/table">
            <a:tbl>
              <a:tblPr/>
              <a:tblGrid>
                <a:gridCol w="3021781">
                  <a:extLst>
                    <a:ext uri="{9D8B030D-6E8A-4147-A177-3AD203B41FA5}">
                      <a16:colId xmlns:a16="http://schemas.microsoft.com/office/drawing/2014/main" val="3572232635"/>
                    </a:ext>
                  </a:extLst>
                </a:gridCol>
                <a:gridCol w="3021781">
                  <a:extLst>
                    <a:ext uri="{9D8B030D-6E8A-4147-A177-3AD203B41FA5}">
                      <a16:colId xmlns:a16="http://schemas.microsoft.com/office/drawing/2014/main" val="2838510854"/>
                    </a:ext>
                  </a:extLst>
                </a:gridCol>
                <a:gridCol w="3021781">
                  <a:extLst>
                    <a:ext uri="{9D8B030D-6E8A-4147-A177-3AD203B41FA5}">
                      <a16:colId xmlns:a16="http://schemas.microsoft.com/office/drawing/2014/main" val="2544617537"/>
                    </a:ext>
                  </a:extLst>
                </a:gridCol>
              </a:tblGrid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Phase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Start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b="1" dirty="0"/>
                        <a:t>End Date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8430147"/>
                  </a:ext>
                </a:extLst>
              </a:tr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Review-1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10-01-2026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16-01-2026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6764938"/>
                  </a:ext>
                </a:extLst>
              </a:tr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Review-2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31-01-2026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06-02-2026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8928023"/>
                  </a:ext>
                </a:extLst>
              </a:tr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Review-3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28-02-2026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06-03-2026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2142068"/>
                  </a:ext>
                </a:extLst>
              </a:tr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Review-4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03-04-2026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09-04-2026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0714911"/>
                  </a:ext>
                </a:extLst>
              </a:tr>
              <a:tr h="6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Final Viva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/>
                        <a:t>20-04-2026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800" dirty="0"/>
                        <a:t>26-04-2026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91435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72789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90A8C-EF7A-A8B3-D40E-E1088101D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References(IEEE Format)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5C1869-C422-A032-E192-C28D363074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[1] Food and Agriculture Organization of the United Nations (FAO),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Biosecurity for Highly Pathogenic Avian Influenza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FAO Animal Production and Health Manual, Rome, Italy, 2020.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[2] World </a:t>
            </a:r>
            <a:r>
              <a:rPr lang="en-US" dirty="0" err="1">
                <a:latin typeface="Cambria" panose="02040503050406030204" pitchFamily="18" charset="0"/>
                <a:ea typeface="Cambria" panose="02040503050406030204" pitchFamily="18" charset="0"/>
              </a:rPr>
              <a:t>Organisation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 for Animal Health (WOAH),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Terrestrial Animal Health Code: Biosecurity Procedures in Poultry and Pig Production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Paris, France, 2022.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[3] J. Rushton, “The economics of animal health and biosecurity,”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Revue Scientifique et Technique (OIE)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vol. 36, no. 2, pp. 385–398, 2019.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[4] S. Patel and M. Verma, “Web-based farm management systems for disease prevention in poultry farms,”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Journal of Animal Health and Production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vol. 9, no. 3, pp. 112–118, 2020.</a:t>
            </a:r>
          </a:p>
          <a:p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[5] Ministry of Fisheries, Animal Husbandry and Dairying, Government of India, </a:t>
            </a:r>
            <a:r>
              <a:rPr lang="en-US" i="1" dirty="0">
                <a:latin typeface="Cambria" panose="02040503050406030204" pitchFamily="18" charset="0"/>
                <a:ea typeface="Cambria" panose="02040503050406030204" pitchFamily="18" charset="0"/>
              </a:rPr>
              <a:t>National Action Plan for Prevention, Control and Containment of Avian Influenza</a:t>
            </a: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, New Delhi, India, 2021.</a:t>
            </a:r>
          </a:p>
          <a:p>
            <a:pPr marL="7620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26977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7"/>
          <p:cNvSpPr txBox="1">
            <a:spLocks noGrp="1"/>
          </p:cNvSpPr>
          <p:nvPr>
            <p:ph type="title"/>
          </p:nvPr>
        </p:nvSpPr>
        <p:spPr>
          <a:xfrm>
            <a:off x="812800" y="274638"/>
            <a:ext cx="10668000" cy="48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152400" lvl="0">
              <a:lnSpc>
                <a:spcPct val="200000"/>
              </a:lnSpc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body" idx="1"/>
          </p:nvPr>
        </p:nvSpPr>
        <p:spPr>
          <a:xfrm>
            <a:off x="812800" y="11430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lvl="0" indent="-190500" algn="just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4" name="Google Shape;115;p17"/>
          <p:cNvSpPr txBox="1">
            <a:spLocks/>
          </p:cNvSpPr>
          <p:nvPr/>
        </p:nvSpPr>
        <p:spPr>
          <a:xfrm>
            <a:off x="965200" y="1295400"/>
            <a:ext cx="10668000" cy="495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5" name="Google Shape;115;p17"/>
          <p:cNvSpPr txBox="1">
            <a:spLocks/>
          </p:cNvSpPr>
          <p:nvPr/>
        </p:nvSpPr>
        <p:spPr>
          <a:xfrm>
            <a:off x="812800" y="1143000"/>
            <a:ext cx="10668000" cy="41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30200" algn="l" rtl="0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6pPr>
            <a:lvl7pPr marL="3200400" marR="0" lvl="6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7pPr>
            <a:lvl8pPr marL="3657600" marR="0" lvl="7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8pPr>
            <a:lvl9pPr marL="4114800" marR="0" lvl="8" indent="-3429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Bookman Old Style"/>
                <a:ea typeface="Bookman Old Style"/>
                <a:cs typeface="Bookman Old Style"/>
                <a:sym typeface="Bookman Old Style"/>
              </a:defRPr>
            </a:lvl9pPr>
          </a:lstStyle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dirty="0">
                <a:latin typeface="Cambria" panose="02040503050406030204" pitchFamily="18" charset="0"/>
                <a:ea typeface="Cambria" panose="02040503050406030204" pitchFamily="18" charset="0"/>
              </a:rPr>
              <a:t>The Github link provided should have public access permission.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Github Link</a:t>
            </a:r>
          </a:p>
          <a:p>
            <a:pPr marL="342900" indent="-190500" algn="just"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342900" indent="-190500" algn="just">
              <a:lnSpc>
                <a:spcPct val="200000"/>
              </a:lnSpc>
              <a:spcBef>
                <a:spcPts val="0"/>
              </a:spcBef>
              <a:buSzPct val="100000"/>
              <a:buFont typeface="Arial"/>
              <a:buNone/>
            </a:pPr>
            <a:endParaRPr 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563573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63A00FF-89F0-DC87-D900-930227B33E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2811" y="1441315"/>
            <a:ext cx="3893305" cy="39354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Bioinformatics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370</TotalTime>
  <Words>1002</Words>
  <Application>Microsoft Office PowerPoint</Application>
  <PresentationFormat>Widescreen</PresentationFormat>
  <Paragraphs>164</Paragraphs>
  <Slides>13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Cambria</vt:lpstr>
      <vt:lpstr>Verdana</vt:lpstr>
      <vt:lpstr>Wingdings</vt:lpstr>
      <vt:lpstr>Bioinformatics</vt:lpstr>
      <vt:lpstr>Development of a Digital Farm Management Portal for implementing Biosecurity measures in Pig and Poultry Farms</vt:lpstr>
      <vt:lpstr>Content</vt:lpstr>
      <vt:lpstr>Problem Statement Number : SIH25006 </vt:lpstr>
      <vt:lpstr>Software and Hardware Requirements</vt:lpstr>
      <vt:lpstr>Analysis of Problem Statement</vt:lpstr>
      <vt:lpstr>Analysis of Problem Statement</vt:lpstr>
      <vt:lpstr>Objectives</vt:lpstr>
      <vt:lpstr>Background and Related work for title Selection</vt:lpstr>
      <vt:lpstr>Innovation or Novel contributions</vt:lpstr>
      <vt:lpstr>Timeline of the Project(Gantt Chart)</vt:lpstr>
      <vt:lpstr>References(IEEE Format)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Jaswanth Reddy</cp:lastModifiedBy>
  <cp:revision>41</cp:revision>
  <dcterms:modified xsi:type="dcterms:W3CDTF">2026-01-12T13:52:39Z</dcterms:modified>
</cp:coreProperties>
</file>